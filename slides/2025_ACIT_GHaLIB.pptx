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71" r:id="rId4"/>
    <p:sldId id="259" r:id="rId5"/>
    <p:sldId id="260" r:id="rId6"/>
    <p:sldId id="261" r:id="rId7"/>
    <p:sldId id="262" r:id="rId8"/>
    <p:sldId id="272" r:id="rId9"/>
    <p:sldId id="263" r:id="rId10"/>
    <p:sldId id="273" r:id="rId11"/>
    <p:sldId id="264" r:id="rId12"/>
    <p:sldId id="265" r:id="rId13"/>
    <p:sldId id="274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40"/>
    <p:restoredTop sz="83760"/>
  </p:normalViewPr>
  <p:slideViewPr>
    <p:cSldViewPr snapToGrid="0">
      <p:cViewPr>
        <p:scale>
          <a:sx n="89" d="100"/>
          <a:sy n="89" d="100"/>
        </p:scale>
        <p:origin x="14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1E44F-30EF-4E4E-95D3-B1F42064AF19}" type="datetimeFigureOut">
              <a:rPr lang="en-PK" smtClean="0"/>
              <a:t>13/12/2025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227635-CE99-B24D-AEC6-6C12C101AB0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48720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Good morning/afternoon everyone. My name is ________, and today I will present our work titled </a:t>
            </a:r>
            <a:r>
              <a:rPr lang="en-GB" i="1" dirty="0"/>
              <a:t>GHaLIB: A Multilingual Framework for Hope Speech Detection in Low-Resource Languages</a:t>
            </a:r>
            <a:r>
              <a:rPr lang="en-GB" dirty="0"/>
              <a:t>, developed for ACIT 2025.</a:t>
            </a:r>
          </a:p>
          <a:p>
            <a:r>
              <a:rPr lang="en-GB" dirty="0"/>
              <a:t>I will briefly cover the motivation, dataset, methodology, model architecture, results, and key takeaways.”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27635-CE99-B24D-AEC6-6C12C101AB08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24047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4741C-FC3B-D960-1D63-71160E314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FB210B-0DA6-F6C8-13BF-52627E269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6CF76D-40D8-C1E5-CA28-E044A6117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Hope speech refers to expressions of encouragement, optimism, or positive expectation. Despite its importance, hope speech is </a:t>
            </a:r>
            <a:r>
              <a:rPr lang="en-GB" i="1" dirty="0"/>
              <a:t>understudied</a:t>
            </a:r>
            <a:r>
              <a:rPr lang="en-GB" dirty="0"/>
              <a:t>, especially in low-resource languages like Urdu.</a:t>
            </a:r>
          </a:p>
          <a:p>
            <a:r>
              <a:rPr lang="en-GB" dirty="0"/>
              <a:t>Most existing datasets and models focus on English, leaving a gap for multilingual settings. Another challenge is that hope speech often resembles sarcasm or negativity, making it difficult for classical models to differentiate based on keywords alone.</a:t>
            </a:r>
          </a:p>
          <a:p>
            <a:r>
              <a:rPr lang="en-GB" dirty="0"/>
              <a:t>This highlights the need for a multilingual, context-aware framework that can handle linguistic nuance and code-mixing.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B6030-E36F-3F89-9808-D90E54ADDD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27635-CE99-B24D-AEC6-6C12C101AB08}" type="slidenum">
              <a:rPr lang="en-PK" smtClean="0"/>
              <a:t>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60771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3FA47-92F3-A721-BA30-827CE41A1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731FE-F06B-5D01-0156-044266310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94790B-E617-7330-358C-C496312FD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As shown in this diagram, two sentences with very similar wording — such as ‘can win’ — can represent very different intentions: genuine hope or sarcasm.</a:t>
            </a:r>
          </a:p>
          <a:p>
            <a:r>
              <a:rPr lang="en-GB" dirty="0"/>
              <a:t>Because the surface vocabulary is so similar, the classifier produces uncertain predictions. This visual emphasizes why deeper contextual </a:t>
            </a:r>
            <a:r>
              <a:rPr lang="en-GB" dirty="0" err="1"/>
              <a:t>modeling</a:t>
            </a:r>
            <a:r>
              <a:rPr lang="en-GB" dirty="0"/>
              <a:t> is needed rather than simple keyword-based approaches.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9C98B-9A7C-D62C-242C-737CF0F1A7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27635-CE99-B24D-AEC6-6C12C101AB08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53378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73C18-116D-C13F-F90F-8ED7509BC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78A3FA-DD05-CB16-05A3-30F1088D64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15A6A9-00DF-AC65-6723-6243AFBE1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Hope speech is categorized into four types:</a:t>
            </a:r>
          </a:p>
          <a:p>
            <a:r>
              <a:rPr lang="en-GB" b="1" dirty="0"/>
              <a:t>Generalized Hope</a:t>
            </a:r>
            <a:r>
              <a:rPr lang="en-GB" dirty="0"/>
              <a:t> — broad optimism.</a:t>
            </a:r>
          </a:p>
          <a:p>
            <a:r>
              <a:rPr lang="en-GB" b="1" dirty="0"/>
              <a:t>Realistic Hope</a:t>
            </a:r>
            <a:r>
              <a:rPr lang="en-GB" dirty="0"/>
              <a:t> — achievable, effort-based optimism.</a:t>
            </a:r>
          </a:p>
          <a:p>
            <a:r>
              <a:rPr lang="en-GB" b="1" dirty="0"/>
              <a:t>Unrealistic Hope</a:t>
            </a:r>
            <a:r>
              <a:rPr lang="en-GB" dirty="0"/>
              <a:t> — impossible or highly improbable expectations.</a:t>
            </a:r>
          </a:p>
          <a:p>
            <a:r>
              <a:rPr lang="en-GB" b="1" dirty="0"/>
              <a:t>Not Hope</a:t>
            </a:r>
            <a:r>
              <a:rPr lang="en-GB" dirty="0"/>
              <a:t> — neutral or negative statements showing no optimism.</a:t>
            </a:r>
          </a:p>
          <a:p>
            <a:r>
              <a:rPr lang="en-GB" dirty="0"/>
              <a:t>These categories guide our </a:t>
            </a:r>
            <a:r>
              <a:rPr lang="en-GB" dirty="0" err="1"/>
              <a:t>labeling</a:t>
            </a:r>
            <a:r>
              <a:rPr lang="en-GB" dirty="0"/>
              <a:t> and classification tasks.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588B7-6FA0-284F-4EEF-F45DD2CFD8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27635-CE99-B24D-AEC6-6C12C101AB08}" type="slidenum">
              <a:rPr lang="en-PK" smtClean="0"/>
              <a:t>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56884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0D42B-2FC8-BF5C-5FE8-32D03399D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2598B-34AA-BD76-83E5-9A2EE432E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4E26CE-0238-2292-B40A-27EF53FC4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Existing work is mainly English-centric.</a:t>
            </a:r>
            <a:br>
              <a:rPr lang="en-GB" dirty="0"/>
            </a:br>
            <a:r>
              <a:rPr lang="en-GB" dirty="0"/>
              <a:t>Datasets for hope speech are limited, especially for low-resource languages.</a:t>
            </a:r>
            <a:br>
              <a:rPr lang="en-GB" dirty="0"/>
            </a:br>
            <a:r>
              <a:rPr lang="en-GB" dirty="0"/>
              <a:t>Classical ML methods struggle with sarcasm and contextual nuance.</a:t>
            </a:r>
            <a:br>
              <a:rPr lang="en-GB" dirty="0"/>
            </a:br>
            <a:r>
              <a:rPr lang="en-GB" dirty="0"/>
              <a:t>Transformers have been applied mostly to hate speech—not hope speech.</a:t>
            </a:r>
            <a:br>
              <a:rPr lang="en-GB" dirty="0"/>
            </a:br>
            <a:r>
              <a:rPr lang="en-GB" dirty="0"/>
              <a:t>There is also no multilingual framework that handles code-mixing effectively.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C9263-F092-9A54-B4FE-E7078DF5C0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27635-CE99-B24D-AEC6-6C12C101AB08}" type="slidenum">
              <a:rPr lang="en-PK" smtClean="0"/>
              <a:t>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66198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BA045-75FA-A69B-D3E0-A6A6C90FC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757F83-96DB-7A2A-2FCA-621FA70B7F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293C40-ECF7-0B41-7D04-C7BC740E0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“Our contributions are:</a:t>
            </a:r>
          </a:p>
          <a:p>
            <a:r>
              <a:rPr lang="en-GB" dirty="0"/>
              <a:t>A multilingual framework for hope speech detection.</a:t>
            </a:r>
          </a:p>
          <a:p>
            <a:r>
              <a:rPr lang="en-GB" dirty="0"/>
              <a:t>Integration of language-specific encoders with a shared transformer backbone.</a:t>
            </a:r>
          </a:p>
          <a:p>
            <a:r>
              <a:rPr lang="en-GB" dirty="0"/>
              <a:t>State-of-the-art results on the PolyHope-M 2025 benchmark.</a:t>
            </a:r>
          </a:p>
          <a:p>
            <a:r>
              <a:rPr lang="en-GB" dirty="0"/>
              <a:t>Strong performance in low-resource languages like Urdu.</a:t>
            </a:r>
          </a:p>
          <a:p>
            <a:r>
              <a:rPr lang="en-GB" dirty="0"/>
              <a:t>Public release of code and resources for reproducibility.”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E8A46-3D63-CA5D-E8C4-515BCF8517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27635-CE99-B24D-AEC6-6C12C101AB08}" type="slidenum">
              <a:rPr lang="en-PK" smtClean="0"/>
              <a:t>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245442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B12F4-14AA-BBCD-F4B0-A662E7CA7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1DEB57-2B77-444A-0C3D-8DACF734E6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5F1232-AC0C-D207-6C99-35789BC9F8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“These charts for English and Urdu show that the </a:t>
            </a:r>
            <a:r>
              <a:rPr lang="en-GB" i="1" dirty="0"/>
              <a:t>Not Hope</a:t>
            </a:r>
            <a:r>
              <a:rPr lang="en-GB" dirty="0"/>
              <a:t> category is the most common, which creates a class imbalance. The other categories—Generalized, Realistic, and Unrealistic Hope—are significantly smaller.</a:t>
            </a:r>
          </a:p>
          <a:p>
            <a:r>
              <a:rPr lang="en-GB" dirty="0"/>
              <a:t>This imbalance influenced our decision to use weighted loss during training.”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040CE-1BC7-FB3E-CA52-D1354EE7B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27635-CE99-B24D-AEC6-6C12C101AB08}" type="slidenum">
              <a:rPr lang="en-PK" smtClean="0"/>
              <a:t>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405618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32755-E3FB-A036-F983-742365139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382AE0-CE08-1FB7-36B2-0CA52F6308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25C98E-B34D-0BE1-88A4-AE5AF9948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158A6-F62E-3873-4D9B-CFD5BB7BE8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27635-CE99-B24D-AEC6-6C12C101AB08}" type="slidenum">
              <a:rPr lang="en-PK" smtClean="0"/>
              <a:t>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27669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D2CA8-FD7E-910B-CCAC-205006575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B5A818-87EA-FEB5-EA9B-308878AD16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13DFBE-9F30-AAE9-A505-BCC468665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“This slide shows the full methodology pipeline.</a:t>
            </a:r>
          </a:p>
          <a:p>
            <a:r>
              <a:rPr lang="en-GB" dirty="0"/>
              <a:t>Starting on the left, the input text first undergoes language detection. Based on the language, it is routed to the corresponding encoder — UrduBERT for Urdu, </a:t>
            </a:r>
            <a:r>
              <a:rPr lang="en-GB" dirty="0" err="1"/>
              <a:t>RoBERTa</a:t>
            </a:r>
            <a:r>
              <a:rPr lang="en-GB" dirty="0"/>
              <a:t> for English, and EuroBERT for German and Spanish.</a:t>
            </a:r>
          </a:p>
          <a:p>
            <a:r>
              <a:rPr lang="en-GB" dirty="0"/>
              <a:t>As shown in the </a:t>
            </a:r>
            <a:r>
              <a:rPr lang="en-GB" dirty="0" err="1"/>
              <a:t>colored</a:t>
            </a:r>
            <a:r>
              <a:rPr lang="en-GB" dirty="0"/>
              <a:t> blocks in the middle, each encoder transforms the input into dense embeddings.</a:t>
            </a:r>
          </a:p>
          <a:p>
            <a:r>
              <a:rPr lang="en-GB" dirty="0"/>
              <a:t>These embeddings are then fed into a context-based classifier powered by XLM-</a:t>
            </a:r>
            <a:r>
              <a:rPr lang="en-GB" dirty="0" err="1"/>
              <a:t>RoBERTa</a:t>
            </a:r>
            <a:r>
              <a:rPr lang="en-GB" dirty="0"/>
              <a:t>, which is our shared multilingual backbone.</a:t>
            </a:r>
          </a:p>
          <a:p>
            <a:r>
              <a:rPr lang="en-GB" dirty="0"/>
              <a:t>The classifier then outputs label probabilities — such as Generalized Hope, Realistic Hope, Unrealistic Hope, or Not Hope — as displayed in the prediction box on the right.</a:t>
            </a:r>
          </a:p>
          <a:p>
            <a:r>
              <a:rPr lang="en-GB" dirty="0"/>
              <a:t>This architecture allows us to blend language-specific understanding with multilingual generalization.”</a:t>
            </a:r>
          </a:p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BB5A8-E083-7B24-B761-EA65FF6F5A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27635-CE99-B24D-AEC6-6C12C101AB08}" type="slidenum">
              <a:rPr lang="en-PK" smtClean="0"/>
              <a:t>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601992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64ACF-769C-3EFA-E2CF-CFBD13394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12C563-A3FF-813E-D946-42A384B0A5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7B9ED1-F500-DF51-3A82-787AD4198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95E8F-2BE3-65F1-1A68-7898D8F6B7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27635-CE99-B24D-AEC6-6C12C101AB08}" type="slidenum">
              <a:rPr lang="en-PK" smtClean="0"/>
              <a:t>10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161981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7815E-F226-E1BC-9C52-E56AF60D2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FD7DE1-DAC5-2E19-97A6-30F73C78C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144B89-6FF8-2A77-050B-A45F3BC17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For training, we used weighted cross-entropy to counter class imbalance.</a:t>
            </a:r>
            <a:br>
              <a:rPr lang="en-GB" dirty="0"/>
            </a:br>
            <a:r>
              <a:rPr lang="en-GB" dirty="0"/>
              <a:t>We used </a:t>
            </a:r>
            <a:r>
              <a:rPr lang="en-GB" dirty="0" err="1"/>
              <a:t>Optuna</a:t>
            </a:r>
            <a:r>
              <a:rPr lang="en-GB" dirty="0"/>
              <a:t> for hyperparameter tuning across 30 trials.</a:t>
            </a:r>
            <a:br>
              <a:rPr lang="en-GB" dirty="0"/>
            </a:br>
            <a:r>
              <a:rPr lang="en-GB" dirty="0"/>
              <a:t>Training was performed using two 16-GB NVIDIA T4 GPUs.</a:t>
            </a:r>
            <a:br>
              <a:rPr lang="en-GB" dirty="0"/>
            </a:br>
            <a:r>
              <a:rPr lang="en-GB" dirty="0"/>
              <a:t>We maintained a 70/15/15 stratified split for train, validation, and test sets.</a:t>
            </a:r>
            <a:br>
              <a:rPr lang="en-GB" dirty="0"/>
            </a:br>
            <a:r>
              <a:rPr lang="en-GB" dirty="0"/>
              <a:t>Finally, we fixed all random seeds to ensure reproducibility.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44977-3B92-2BFD-366A-DA7ABDB8A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27635-CE99-B24D-AEC6-6C12C101AB08}" type="slidenum">
              <a:rPr lang="en-PK" smtClean="0"/>
              <a:t>11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503848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0B256-9D52-799E-BBC2-4D2A53EBC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EC682C-3FB9-BBB5-ABF8-C3785851B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ABCC45-0D3C-978C-2E93-0BB2A38EC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model achieves:</a:t>
            </a:r>
          </a:p>
          <a:p>
            <a:r>
              <a:rPr lang="en-GB" b="1" dirty="0"/>
              <a:t>95% F1 score in Urdu</a:t>
            </a:r>
            <a:r>
              <a:rPr lang="en-GB" dirty="0"/>
              <a:t>,</a:t>
            </a:r>
          </a:p>
          <a:p>
            <a:r>
              <a:rPr lang="en-GB" b="1" dirty="0"/>
              <a:t>87.4% in German</a:t>
            </a:r>
            <a:r>
              <a:rPr lang="en-GB" dirty="0"/>
              <a:t>,</a:t>
            </a:r>
          </a:p>
          <a:p>
            <a:r>
              <a:rPr lang="en-GB" b="1" dirty="0"/>
              <a:t>86.3% in English</a:t>
            </a:r>
            <a:r>
              <a:rPr lang="en-GB" dirty="0"/>
              <a:t>,</a:t>
            </a:r>
          </a:p>
          <a:p>
            <a:r>
              <a:rPr lang="en-GB" b="1" dirty="0"/>
              <a:t>85% in Spanish</a:t>
            </a:r>
            <a:r>
              <a:rPr lang="en-GB" dirty="0"/>
              <a:t>.</a:t>
            </a:r>
          </a:p>
          <a:p>
            <a:r>
              <a:rPr lang="en-GB" dirty="0"/>
              <a:t>These results confirm that the combination of language-specific encoders with XLM-</a:t>
            </a:r>
            <a:r>
              <a:rPr lang="en-GB" dirty="0" err="1"/>
              <a:t>RoBERTa</a:t>
            </a:r>
            <a:r>
              <a:rPr lang="en-GB" dirty="0"/>
              <a:t> performs strongly across diverse languages.</a:t>
            </a:r>
          </a:p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CC83C-C65C-9986-EC54-0B2A6BC402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27635-CE99-B24D-AEC6-6C12C101AB08}" type="slidenum">
              <a:rPr lang="en-PK" smtClean="0"/>
              <a:t>12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10537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379AD-CD5F-B76F-DB2A-8D6312A0C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F73DD0-F031-EA62-A388-AAC5881F2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A77523-D55B-AAC7-24B5-FBC2C7C30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Our best results are:</a:t>
            </a:r>
          </a:p>
          <a:p>
            <a:r>
              <a:rPr lang="en-GB" b="1" dirty="0"/>
              <a:t>Urdu: 65.2% F1</a:t>
            </a:r>
            <a:r>
              <a:rPr lang="en-GB" dirty="0"/>
              <a:t>,</a:t>
            </a:r>
          </a:p>
          <a:p>
            <a:r>
              <a:rPr lang="en-GB" b="1" dirty="0"/>
              <a:t>English: 71% F1</a:t>
            </a:r>
            <a:r>
              <a:rPr lang="en-GB" dirty="0"/>
              <a:t>,</a:t>
            </a:r>
          </a:p>
          <a:p>
            <a:r>
              <a:rPr lang="en-GB" b="1" dirty="0"/>
              <a:t>Spanish: 68.5% F1</a:t>
            </a:r>
            <a:r>
              <a:rPr lang="en-GB" dirty="0"/>
              <a:t>,</a:t>
            </a:r>
          </a:p>
          <a:p>
            <a:r>
              <a:rPr lang="en-GB" b="1" dirty="0"/>
              <a:t>German: 70.1% F1</a:t>
            </a:r>
            <a:r>
              <a:rPr lang="en-GB" dirty="0"/>
              <a:t>.</a:t>
            </a:r>
          </a:p>
          <a:p>
            <a:r>
              <a:rPr lang="en-GB" dirty="0"/>
              <a:t>These scores remain competitive and in many cases state-of-the-art for hope speech classification.”</a:t>
            </a:r>
          </a:p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2047C-B4D5-5304-3626-A1F8F1CA41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27635-CE99-B24D-AEC6-6C12C101AB08}" type="slidenum">
              <a:rPr lang="en-PK" smtClean="0"/>
              <a:t>13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40766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BAA6F-427B-610F-5CD4-62753B979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E2A80A-8E31-FB3F-2E9F-F507359389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D51542-6A9E-8D3F-BA90-F40AB7E6B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Our main observations are:</a:t>
            </a:r>
          </a:p>
          <a:p>
            <a:r>
              <a:rPr lang="en-GB" dirty="0"/>
              <a:t>Language-specific encoders significantly improve performance in Urdu and German.</a:t>
            </a:r>
          </a:p>
          <a:p>
            <a:r>
              <a:rPr lang="en-GB" dirty="0"/>
              <a:t>Multilingual transformers generalize well for binary tasks.</a:t>
            </a:r>
          </a:p>
          <a:p>
            <a:r>
              <a:rPr lang="en-GB" dirty="0"/>
              <a:t>Multiclass tasks are harder due to overlapping vocabulary.</a:t>
            </a:r>
          </a:p>
          <a:p>
            <a:r>
              <a:rPr lang="en-GB" dirty="0"/>
              <a:t>English benefits from richer pretraining resources.</a:t>
            </a:r>
          </a:p>
          <a:p>
            <a:r>
              <a:rPr lang="en-GB" dirty="0"/>
              <a:t>Most errors stem from code-mixing and ambiguous context.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376CF-778D-76F6-F5E3-096408D936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27635-CE99-B24D-AEC6-6C12C101AB08}" type="slidenum">
              <a:rPr lang="en-PK" smtClean="0"/>
              <a:t>14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039701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CB293-AD23-066A-3B02-32E70A32C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D42EBA-815C-CC74-67CB-C0D3252E1D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C72C4C-596C-BFEA-C400-0982D2A0E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 conclusion, GHaLIB provides a robust multilingual framework for hope speech detection, achieving state-of-the-art results across four languages.</a:t>
            </a:r>
          </a:p>
          <a:p>
            <a:r>
              <a:rPr lang="en-GB" dirty="0"/>
              <a:t>Combining language-specific encoders with XLM-</a:t>
            </a:r>
            <a:r>
              <a:rPr lang="en-GB" dirty="0" err="1"/>
              <a:t>RoBERTa</a:t>
            </a:r>
            <a:r>
              <a:rPr lang="en-GB" dirty="0"/>
              <a:t> proves highly effective, especially for low-resource languages.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C0EB6-ED03-C983-4360-E90166BB3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27635-CE99-B24D-AEC6-6C12C101AB08}" type="slidenum">
              <a:rPr lang="en-PK" smtClean="0"/>
              <a:t>15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486885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54677-34C5-6ED5-DE48-228A15FBD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DCFE6D-88E1-E1CA-FAE8-85E6AC5D98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4FD9BC-0D78-EAF7-5F26-C84A109BE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For future work, we aim to extend this framework to additional low-resource languages such as Punjabi, Sindhi, and Seraiki.</a:t>
            </a:r>
            <a:br>
              <a:rPr lang="en-GB" dirty="0"/>
            </a:br>
            <a:r>
              <a:rPr lang="en-GB" dirty="0"/>
              <a:t>We also plan to explore domain-specific pretraining and more efficient fine-tuning strategies.</a:t>
            </a:r>
            <a:br>
              <a:rPr lang="en-GB" dirty="0"/>
            </a:br>
            <a:r>
              <a:rPr lang="en-GB" dirty="0"/>
              <a:t>Finally, improving our system’s ability to handle code-mixing and context ambiguity will remain an important research direction.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1D408-D177-52E1-DB5E-B407657B10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27635-CE99-B24D-AEC6-6C12C101AB08}" type="slidenum">
              <a:rPr lang="en-PK" smtClean="0"/>
              <a:t>16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962679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2D9D4-82D4-6993-6A6B-38227CC89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9E6480-605D-37E7-1726-B37015A682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30F5C4-82BF-700C-CA71-279D04D3D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Thank you for your attention. I will now be happy to take any questions.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EBD41-3C2F-B6B0-5BF2-166C9B577A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27635-CE99-B24D-AEC6-6C12C101AB08}" type="slidenum">
              <a:rPr lang="en-PK" smtClean="0"/>
              <a:t>17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07587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BE184-723E-77F6-F017-4AA51AA71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B20BD8-8F3A-5128-9528-80480DF7E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FBB82-05BF-B453-8D6D-B0819EB9F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B2F1A-48EA-8A44-AB2B-D00204BEDB8C}" type="datetimeFigureOut">
              <a:rPr lang="en-PK" smtClean="0"/>
              <a:t>13/12/2025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8DAAA-66AB-2B4E-2AAD-1350644A8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EFB55-91E5-D2B5-1DED-D17ADA704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ADA2-8C03-2F42-B9D1-972937C69A2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23677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6DAA2-6E16-81F4-775D-4663AEBD7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7821F-8BFF-47AA-C199-DBFB5D893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734D4-EAE1-41CF-6A47-82ABE6AA5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B2F1A-48EA-8A44-AB2B-D00204BEDB8C}" type="datetimeFigureOut">
              <a:rPr lang="en-PK" smtClean="0"/>
              <a:t>13/12/2025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F55A5-A77B-52F8-7178-50864CE47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F8579-48F5-D456-AF23-1445B95E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ADA2-8C03-2F42-B9D1-972937C69A2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03710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66904-16FD-6060-AF1F-2759C8A78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9471A-08DA-E85C-07D6-13443C4DB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B2AE6-5C61-E170-D3BC-7D740043A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B2F1A-48EA-8A44-AB2B-D00204BEDB8C}" type="datetimeFigureOut">
              <a:rPr lang="en-PK" smtClean="0"/>
              <a:t>13/12/2025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67F67-7F31-A77A-B7A2-4B4B03083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9F138-6353-BAEC-1F46-FCABB89B9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ADA2-8C03-2F42-B9D1-972937C69A2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94406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034B6-017B-90D0-4B4E-D2F0BFF6C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1A823-FFA6-134C-2B94-7A9F97057E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2ABD3E-8462-AC47-2D30-98E92ADB4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02467C-2840-300F-222F-A3964D6F6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B2F1A-48EA-8A44-AB2B-D00204BEDB8C}" type="datetimeFigureOut">
              <a:rPr lang="en-PK" smtClean="0"/>
              <a:t>13/12/2025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DFC17-00D6-AC05-B912-94BF367B4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F9E50-3F07-F78C-76D2-5DE1BFB00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ADA2-8C03-2F42-B9D1-972937C69A2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03302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1AC-656F-EE3A-1D96-2153D39DC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85C70-7EA4-6A9E-8075-038EBC8CE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FD696-B960-4357-8604-F728D4BCC1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CA9365-070E-07DD-D440-CEEFAFE069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B2C3E7-B25B-7698-B294-E93E208E5C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C9A2CE-A690-827E-1C23-273075C5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B2F1A-48EA-8A44-AB2B-D00204BEDB8C}" type="datetimeFigureOut">
              <a:rPr lang="en-PK" smtClean="0"/>
              <a:t>13/12/2025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ED9B46-9840-25D5-CC3B-B8B010DE8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5DAD1-4569-E254-6DBC-FD26555F5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ADA2-8C03-2F42-B9D1-972937C69A2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16601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6DF5E-9680-C131-5E4B-6E0C675E9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593823-6C3B-F0A8-03AF-212111311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B2F1A-48EA-8A44-AB2B-D00204BEDB8C}" type="datetimeFigureOut">
              <a:rPr lang="en-PK" smtClean="0"/>
              <a:t>13/12/2025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BEB9E-76D9-0445-A333-2017C82AE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05428-0D1A-AEAF-1435-FE737D1D2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ADA2-8C03-2F42-B9D1-972937C69A2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9362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F962C1-5254-7EA3-4969-A3BF2C055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B2F1A-48EA-8A44-AB2B-D00204BEDB8C}" type="datetimeFigureOut">
              <a:rPr lang="en-PK" smtClean="0"/>
              <a:t>13/12/2025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29933B-8FA9-753A-5615-5193FBA37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EDBA7-7071-AB23-CE43-713011461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ADA2-8C03-2F42-B9D1-972937C69A2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67312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221FD-C376-4819-7CE2-C1C1582FF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2E5E1-5F5E-BC25-6BA7-228B2EDAD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C9273F-C4D6-B211-BC92-E2B3BFA5FD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FA7F4F-7115-43E2-95F0-C3F47E2A3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B2F1A-48EA-8A44-AB2B-D00204BEDB8C}" type="datetimeFigureOut">
              <a:rPr lang="en-PK" smtClean="0"/>
              <a:t>13/12/2025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5E976-2D7F-2D54-B2B4-4A8C1D0FD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85D559-DAD6-5FC7-421E-748CBA947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ADA2-8C03-2F42-B9D1-972937C69A2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12660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6CA47-F0C0-B1AA-EF1B-3439512B0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33A2BC-9FF1-4472-E79B-893D8DA1BE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7A56F-B6AD-A163-65CA-B1E9C32BE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AF1B0-B9FC-7C2F-6243-D9FF57D28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B2F1A-48EA-8A44-AB2B-D00204BEDB8C}" type="datetimeFigureOut">
              <a:rPr lang="en-PK" smtClean="0"/>
              <a:t>13/12/2025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84205-72AA-9AB3-03C9-85F69F0D9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971561-4B5C-70FA-94AC-6F27B3B97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ADA2-8C03-2F42-B9D1-972937C69A2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41908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F5616-A4F3-9962-7DBE-324F04D9C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1EADA9-3C81-D6F9-E02E-BC7DA99FF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A591D-AEBF-5FF3-1920-D8B4CFEEC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B2F1A-48EA-8A44-AB2B-D00204BEDB8C}" type="datetimeFigureOut">
              <a:rPr lang="en-PK" smtClean="0"/>
              <a:t>13/12/2025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03EF9-E853-CF5B-0AF3-454DE2413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10172-B63D-0478-1B28-171F6B52C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ADA2-8C03-2F42-B9D1-972937C69A2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28385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445768-9732-3FF0-6F0F-0045BAA432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627EEB-424A-6032-2730-1A637C4F31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35A13-325E-6CC2-129C-41E61B681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B2F1A-48EA-8A44-AB2B-D00204BEDB8C}" type="datetimeFigureOut">
              <a:rPr lang="en-PK" smtClean="0"/>
              <a:t>13/12/2025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E3986-8B8B-D40F-8425-906F12383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5243C-A162-A07F-2A50-6292823FB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ADA2-8C03-2F42-B9D1-972937C69A2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58457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0F9C64-5275-672D-B0DA-BFFDC4BA3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0A781-2D63-41BF-8365-FA382F21F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6D8A4-6AFC-0AB8-8DE6-8735506005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AB2F1A-48EA-8A44-AB2B-D00204BEDB8C}" type="datetimeFigureOut">
              <a:rPr lang="en-PK" smtClean="0"/>
              <a:t>13/12/2025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18BC8-E184-24CA-6528-384B8D748E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5A581-3A57-0F38-6D5E-BFE241A3C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69ADA2-8C03-2F42-B9D1-972937C69A2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62521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Brand Guidelines - Al Ain University(AAU) - One of the Best Universities in  UAE">
            <a:extLst>
              <a:ext uri="{FF2B5EF4-FFF2-40B4-BE49-F238E27FC236}">
                <a16:creationId xmlns:a16="http://schemas.microsoft.com/office/drawing/2014/main" id="{03E84C1F-EDEA-5B42-F008-539E4018FC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1" t="9774" r="15729" b="6691"/>
          <a:stretch>
            <a:fillRect/>
          </a:stretch>
        </p:blipFill>
        <p:spPr bwMode="auto">
          <a:xfrm>
            <a:off x="10610357" y="5376402"/>
            <a:ext cx="1396474" cy="1211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5347EF-C082-1E6E-A988-EFE9ADE22D86}"/>
              </a:ext>
            </a:extLst>
          </p:cNvPr>
          <p:cNvSpPr txBox="1"/>
          <p:nvPr/>
        </p:nvSpPr>
        <p:spPr>
          <a:xfrm>
            <a:off x="604507" y="1368654"/>
            <a:ext cx="4583314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>
                <a:latin typeface="Antipasto Pro " panose="02000506020000020004" pitchFamily="2" charset="0"/>
              </a:rPr>
              <a:t>A Multilingual Framework for Hope Speech Detection in Low-Resource Languages</a:t>
            </a:r>
          </a:p>
          <a:p>
            <a:pPr algn="just"/>
            <a:endParaRPr lang="en-GB" sz="1600" dirty="0">
              <a:latin typeface="Antipasto Pro " panose="02000506020000020004" pitchFamily="2" charset="0"/>
            </a:endParaRPr>
          </a:p>
          <a:p>
            <a:pPr algn="just"/>
            <a:r>
              <a:rPr lang="en-GB" sz="2000" b="1" dirty="0">
                <a:latin typeface="Antipasto Pro DemiBold" panose="02000506020000020004" pitchFamily="2" charset="0"/>
              </a:rPr>
              <a:t>Paper ID:</a:t>
            </a:r>
            <a:r>
              <a:rPr lang="en-GB" sz="2000" dirty="0">
                <a:latin typeface="Antipasto Pro " panose="02000506020000020004" pitchFamily="2" charset="0"/>
              </a:rPr>
              <a:t> </a:t>
            </a:r>
            <a:r>
              <a:rPr lang="en-GB" dirty="0">
                <a:latin typeface="Avenir Next" panose="020B0503020202020204" pitchFamily="34" charset="0"/>
              </a:rPr>
              <a:t>220</a:t>
            </a:r>
          </a:p>
          <a:p>
            <a:pPr algn="just"/>
            <a:endParaRPr lang="en-GB" sz="1500" dirty="0">
              <a:latin typeface="Avenir Next" panose="020B0503020202020204" pitchFamily="34" charset="0"/>
            </a:endParaRPr>
          </a:p>
          <a:p>
            <a:pPr algn="just"/>
            <a:r>
              <a:rPr lang="en-GB" sz="2000" b="1" dirty="0">
                <a:latin typeface="Antipasto Pro DemiBold" panose="02000506020000020004" pitchFamily="2" charset="0"/>
              </a:rPr>
              <a:t>Conference: </a:t>
            </a:r>
            <a:r>
              <a:rPr lang="en-GB" sz="2000" dirty="0">
                <a:latin typeface="Antipasto Pro " panose="02000506020000020004" pitchFamily="2" charset="0"/>
              </a:rPr>
              <a:t>ACIT </a:t>
            </a:r>
            <a:r>
              <a:rPr lang="en-GB" sz="2000" b="1" dirty="0">
                <a:latin typeface="Antipasto Pro DemiBold" panose="02000506020000020004" pitchFamily="2" charset="0"/>
              </a:rPr>
              <a:t>’</a:t>
            </a:r>
            <a:r>
              <a:rPr lang="en-GB" dirty="0">
                <a:latin typeface="Avenir Next" panose="020B0503020202020204" pitchFamily="34" charset="0"/>
              </a:rPr>
              <a:t>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B33FDE-9667-72FF-1EDA-950C07C23997}"/>
              </a:ext>
            </a:extLst>
          </p:cNvPr>
          <p:cNvSpPr txBox="1"/>
          <p:nvPr/>
        </p:nvSpPr>
        <p:spPr>
          <a:xfrm>
            <a:off x="604506" y="725401"/>
            <a:ext cx="24616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3200" dirty="0">
                <a:latin typeface="Qurova DEMO" pitchFamily="2" charset="77"/>
              </a:rPr>
              <a:t>GHaLIB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2D55CB-95AF-E7E0-0B32-0D7FB936EA34}"/>
              </a:ext>
            </a:extLst>
          </p:cNvPr>
          <p:cNvSpPr txBox="1"/>
          <p:nvPr/>
        </p:nvSpPr>
        <p:spPr>
          <a:xfrm>
            <a:off x="604507" y="4794668"/>
            <a:ext cx="5491492" cy="1292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PK" dirty="0">
                <a:latin typeface="Antipasto Pro Medium" panose="02000506020000020004" pitchFamily="2" charset="0"/>
                <a:ea typeface="Gentium Plus" panose="02000503060000020004" pitchFamily="2" charset="0"/>
                <a:cs typeface="Gentium Plus" panose="02000503060000020004" pitchFamily="2" charset="0"/>
              </a:rPr>
              <a:t>Ahmed Abdullah 	      </a:t>
            </a:r>
            <a:r>
              <a:rPr lang="en-PK" dirty="0">
                <a:solidFill>
                  <a:schemeClr val="tx2">
                    <a:lumMod val="75000"/>
                    <a:lumOff val="25000"/>
                  </a:schemeClr>
                </a:solidFill>
                <a:latin typeface="Antipasto Pro Medium" panose="02000506020000020004" pitchFamily="2" charset="0"/>
                <a:ea typeface="Gentium Plus" panose="02000503060000020004" pitchFamily="2" charset="0"/>
                <a:cs typeface="Gentium Plus" panose="02000503060000020004" pitchFamily="2" charset="0"/>
              </a:rPr>
              <a:t>(FAST-National University)</a:t>
            </a:r>
            <a:endParaRPr lang="en-PK" u="sng" dirty="0">
              <a:solidFill>
                <a:schemeClr val="tx2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Gentium Plus" panose="02000503060000020004" pitchFamily="2" charset="0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PK" dirty="0">
                <a:latin typeface="Antipasto Pro Medium" panose="02000506020000020004" pitchFamily="2" charset="0"/>
                <a:ea typeface="Gentium Plus" panose="02000503060000020004" pitchFamily="2" charset="0"/>
                <a:cs typeface="Gentium Plus" panose="02000503060000020004" pitchFamily="2" charset="0"/>
              </a:rPr>
              <a:t>Haroon Mahmood         </a:t>
            </a:r>
            <a:r>
              <a:rPr lang="en-PK" dirty="0">
                <a:solidFill>
                  <a:schemeClr val="tx2">
                    <a:lumMod val="75000"/>
                    <a:lumOff val="25000"/>
                  </a:schemeClr>
                </a:solidFill>
                <a:latin typeface="Antipasto Pro Medium" panose="02000506020000020004" pitchFamily="2" charset="0"/>
                <a:ea typeface="Gentium Plus" panose="02000503060000020004" pitchFamily="2" charset="0"/>
                <a:cs typeface="Gentium Plus" panose="02000503060000020004" pitchFamily="2" charset="0"/>
              </a:rPr>
              <a:t>(Al-Ain University)</a:t>
            </a:r>
          </a:p>
          <a:p>
            <a:pPr>
              <a:lnSpc>
                <a:spcPct val="150000"/>
              </a:lnSpc>
            </a:pPr>
            <a:r>
              <a:rPr lang="en-PK" dirty="0">
                <a:latin typeface="Antipasto Pro Medium" panose="02000506020000020004" pitchFamily="2" charset="0"/>
                <a:ea typeface="Gentium Plus" panose="02000503060000020004" pitchFamily="2" charset="0"/>
                <a:cs typeface="Gentium Plus" panose="02000503060000020004" pitchFamily="2" charset="0"/>
              </a:rPr>
              <a:t>Sana Fatima	      </a:t>
            </a:r>
            <a:r>
              <a:rPr lang="en-PK" dirty="0">
                <a:solidFill>
                  <a:schemeClr val="tx2">
                    <a:lumMod val="75000"/>
                    <a:lumOff val="25000"/>
                  </a:schemeClr>
                </a:solidFill>
                <a:latin typeface="Antipasto Pro Medium" panose="02000506020000020004" pitchFamily="2" charset="0"/>
                <a:ea typeface="Gentium Plus" panose="02000503060000020004" pitchFamily="2" charset="0"/>
                <a:cs typeface="Gentium Plus" panose="02000503060000020004" pitchFamily="2" charset="0"/>
              </a:rPr>
              <a:t>(FAST-National University)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7A860B-CA0B-2F66-7761-4DE25B126FC9}"/>
              </a:ext>
            </a:extLst>
          </p:cNvPr>
          <p:cNvSpPr txBox="1"/>
          <p:nvPr/>
        </p:nvSpPr>
        <p:spPr>
          <a:xfrm>
            <a:off x="604507" y="4230113"/>
            <a:ext cx="61003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2400" b="1" u="sng" dirty="0">
                <a:latin typeface="Antipasto Pro Medium" panose="02000506020000020004" pitchFamily="2" charset="0"/>
                <a:ea typeface="Gentium Plus" panose="02000503060000020004" pitchFamily="2" charset="0"/>
                <a:cs typeface="Gentium Plus" panose="02000503060000020004" pitchFamily="2" charset="0"/>
              </a:rPr>
              <a:t>Authors(s)</a:t>
            </a:r>
            <a:endParaRPr lang="en-PK" sz="2400" b="1" u="sng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90458E2-277A-01F0-1E09-2C25056AB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134" y="5376402"/>
            <a:ext cx="1547812" cy="1305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ational University of Computer and Emerging Sciences - Wikipedia">
            <a:extLst>
              <a:ext uri="{FF2B5EF4-FFF2-40B4-BE49-F238E27FC236}">
                <a16:creationId xmlns:a16="http://schemas.microsoft.com/office/drawing/2014/main" id="{0E81104D-E38A-BE7B-9C6F-9BF109A1D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4414" y="5376402"/>
            <a:ext cx="888475" cy="88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Audio 44">
            <a:extLst>
              <a:ext uri="{FF2B5EF4-FFF2-40B4-BE49-F238E27FC236}">
                <a16:creationId xmlns:a16="http://schemas.microsoft.com/office/drawing/2014/main" id="{AC45F8B0-A5EA-B793-9CEE-5E898C2D6CE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075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866"/>
    </mc:Choice>
    <mc:Fallback xmlns="">
      <p:transition spd="slow" advTm="218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2F669-0047-6144-8925-B00A6F98C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E85AAA-B07B-CE9B-DD64-1527E2B404A2}"/>
              </a:ext>
            </a:extLst>
          </p:cNvPr>
          <p:cNvSpPr txBox="1"/>
          <p:nvPr/>
        </p:nvSpPr>
        <p:spPr>
          <a:xfrm>
            <a:off x="10543636" y="6273225"/>
            <a:ext cx="1648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3200" dirty="0">
                <a:latin typeface="Qurova DEMO" pitchFamily="2" charset="77"/>
              </a:rPr>
              <a:t>GHaLIB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9CF01-9FA1-6AEB-3B7B-82043366D604}"/>
              </a:ext>
            </a:extLst>
          </p:cNvPr>
          <p:cNvSpPr txBox="1"/>
          <p:nvPr/>
        </p:nvSpPr>
        <p:spPr>
          <a:xfrm>
            <a:off x="561108" y="722807"/>
            <a:ext cx="41217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u="sng" dirty="0">
                <a:latin typeface="Trebuchet MS" panose="020B0703020202090204" pitchFamily="34" charset="0"/>
              </a:rPr>
              <a:t>Motivation &amp; Problem</a:t>
            </a:r>
            <a:endParaRPr lang="en-PK" sz="3200" u="sng" dirty="0">
              <a:latin typeface="Trebuchet MS" panose="020B070302020209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09D7F6-F4E8-77A5-D5F3-B4DCDF68C820}"/>
              </a:ext>
            </a:extLst>
          </p:cNvPr>
          <p:cNvSpPr txBox="1"/>
          <p:nvPr/>
        </p:nvSpPr>
        <p:spPr>
          <a:xfrm>
            <a:off x="561108" y="2098622"/>
            <a:ext cx="10246801" cy="3379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latin typeface="Antipasto Pro " panose="02000506020000020004" pitchFamily="2" charset="0"/>
              </a:rPr>
              <a:t>Hope speech is understudied, especially in </a:t>
            </a:r>
            <a:r>
              <a:rPr lang="en-GB" sz="2200" b="1" u="sng" dirty="0">
                <a:latin typeface="Antipasto Pro " panose="02000506020000020004" pitchFamily="2" charset="0"/>
              </a:rPr>
              <a:t>low-resource languages</a:t>
            </a:r>
            <a:r>
              <a:rPr lang="en-GB" sz="2200" dirty="0">
                <a:latin typeface="Antipasto Pro " panose="02000506020000020004" pitchFamily="2" charset="0"/>
              </a:rPr>
              <a:t>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latin typeface="Antipasto Pro " panose="02000506020000020004" pitchFamily="2" charset="0"/>
              </a:rPr>
              <a:t>Existing datasets/models </a:t>
            </a:r>
            <a:r>
              <a:rPr lang="en-GB" sz="2200" b="1" u="sng" dirty="0">
                <a:latin typeface="Antipasto Pro " panose="02000506020000020004" pitchFamily="2" charset="0"/>
              </a:rPr>
              <a:t>focus mainly on English</a:t>
            </a:r>
            <a:r>
              <a:rPr lang="en-GB" sz="2200" dirty="0">
                <a:latin typeface="Antipasto Pro " panose="02000506020000020004" pitchFamily="2" charset="0"/>
              </a:rPr>
              <a:t>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200" b="1" u="sng" dirty="0">
                <a:latin typeface="Antipasto Pro " panose="02000506020000020004" pitchFamily="2" charset="0"/>
              </a:rPr>
              <a:t>Similar wording</a:t>
            </a:r>
            <a:r>
              <a:rPr lang="en-GB" sz="2200" dirty="0">
                <a:latin typeface="Antipasto Pro " panose="02000506020000020004" pitchFamily="2" charset="0"/>
              </a:rPr>
              <a:t> between hope, sarcasm, and negativity causes misclassification.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latin typeface="Antipasto Pro " panose="02000506020000020004" pitchFamily="2" charset="0"/>
              </a:rPr>
              <a:t>Traditional ML misses </a:t>
            </a:r>
            <a:r>
              <a:rPr lang="en-GB" sz="2200" b="1" u="sng" dirty="0">
                <a:latin typeface="Antipasto Pro " panose="02000506020000020004" pitchFamily="2" charset="0"/>
              </a:rPr>
              <a:t>contextual and cultural nuance</a:t>
            </a:r>
            <a:r>
              <a:rPr lang="en-GB" sz="2200" dirty="0">
                <a:latin typeface="Antipasto Pro " panose="02000506020000020004" pitchFamily="2" charset="0"/>
              </a:rPr>
              <a:t>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latin typeface="Antipasto Pro " panose="02000506020000020004" pitchFamily="2" charset="0"/>
              </a:rPr>
              <a:t>Need a </a:t>
            </a:r>
            <a:r>
              <a:rPr lang="en-GB" sz="2200" b="1" u="sng" dirty="0">
                <a:latin typeface="Antipasto Pro " panose="02000506020000020004" pitchFamily="2" charset="0"/>
              </a:rPr>
              <a:t>multilingual, context-aware framework</a:t>
            </a:r>
            <a:r>
              <a:rPr lang="en-GB" sz="2200" dirty="0">
                <a:latin typeface="Antipasto Pro " panose="02000506020000020004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287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592"/>
    </mc:Choice>
    <mc:Fallback xmlns="">
      <p:transition spd="slow" advTm="3059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B8784-8888-3817-F0E2-9D5C06FCB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EF37FF-D25E-D505-677F-61F0DA814AB3}"/>
              </a:ext>
            </a:extLst>
          </p:cNvPr>
          <p:cNvSpPr txBox="1"/>
          <p:nvPr/>
        </p:nvSpPr>
        <p:spPr>
          <a:xfrm>
            <a:off x="10543636" y="6273225"/>
            <a:ext cx="1648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3200" dirty="0">
                <a:latin typeface="Qurova DEMO" pitchFamily="2" charset="77"/>
              </a:rPr>
              <a:t>GHaLIB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0F2179-AC83-0FCB-5E02-80EEACFF8A52}"/>
              </a:ext>
            </a:extLst>
          </p:cNvPr>
          <p:cNvSpPr txBox="1"/>
          <p:nvPr/>
        </p:nvSpPr>
        <p:spPr>
          <a:xfrm>
            <a:off x="561108" y="722807"/>
            <a:ext cx="41217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u="sng" dirty="0">
                <a:latin typeface="Trebuchet MS" panose="020B0703020202090204" pitchFamily="34" charset="0"/>
              </a:rPr>
              <a:t>Motivation &amp; Problem</a:t>
            </a:r>
            <a:endParaRPr lang="en-PK" sz="3200" u="sng" dirty="0">
              <a:latin typeface="Trebuchet MS" panose="020B0703020202090204" pitchFamily="34" charset="0"/>
            </a:endParaRPr>
          </a:p>
        </p:txBody>
      </p:sp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1FFA1E23-EA0E-4589-91A3-9847825CA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683" y="1307582"/>
            <a:ext cx="9750634" cy="444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070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976"/>
    </mc:Choice>
    <mc:Fallback xmlns="">
      <p:transition spd="slow" advTm="2697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28AB9-6A81-49A1-E960-4A32B5676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02C9DB-77EE-87BE-12F8-890209C6935D}"/>
              </a:ext>
            </a:extLst>
          </p:cNvPr>
          <p:cNvSpPr txBox="1"/>
          <p:nvPr/>
        </p:nvSpPr>
        <p:spPr>
          <a:xfrm>
            <a:off x="10543636" y="6273225"/>
            <a:ext cx="1648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3200" dirty="0">
                <a:latin typeface="Qurova DEMO" pitchFamily="2" charset="77"/>
              </a:rPr>
              <a:t>GHaLIB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8D2F23-FE0D-8FDA-3B20-747407F6F872}"/>
              </a:ext>
            </a:extLst>
          </p:cNvPr>
          <p:cNvSpPr txBox="1"/>
          <p:nvPr/>
        </p:nvSpPr>
        <p:spPr>
          <a:xfrm>
            <a:off x="561107" y="722807"/>
            <a:ext cx="44958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u="sng" dirty="0">
                <a:latin typeface="Trebuchet MS" panose="020B0703020202090204" pitchFamily="34" charset="0"/>
              </a:rPr>
              <a:t>What is Hope Speech?</a:t>
            </a:r>
            <a:endParaRPr lang="en-PK" sz="3200" u="sng" dirty="0">
              <a:latin typeface="Trebuchet MS" panose="020B070302020209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142969F-23D7-ABDF-5065-7CEEE77B3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429758"/>
              </p:ext>
            </p:extLst>
          </p:nvPr>
        </p:nvGraphicFramePr>
        <p:xfrm>
          <a:off x="561107" y="1606731"/>
          <a:ext cx="10921143" cy="4402182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399034">
                  <a:extLst>
                    <a:ext uri="{9D8B030D-6E8A-4147-A177-3AD203B41FA5}">
                      <a16:colId xmlns:a16="http://schemas.microsoft.com/office/drawing/2014/main" val="1140937354"/>
                    </a:ext>
                  </a:extLst>
                </a:gridCol>
                <a:gridCol w="4381185">
                  <a:extLst>
                    <a:ext uri="{9D8B030D-6E8A-4147-A177-3AD203B41FA5}">
                      <a16:colId xmlns:a16="http://schemas.microsoft.com/office/drawing/2014/main" val="318478133"/>
                    </a:ext>
                  </a:extLst>
                </a:gridCol>
                <a:gridCol w="4140924">
                  <a:extLst>
                    <a:ext uri="{9D8B030D-6E8A-4147-A177-3AD203B41FA5}">
                      <a16:colId xmlns:a16="http://schemas.microsoft.com/office/drawing/2014/main" val="3937954946"/>
                    </a:ext>
                  </a:extLst>
                </a:gridCol>
              </a:tblGrid>
              <a:tr h="688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>
                          <a:latin typeface="Antipasto Pro " panose="02000506020000020004" pitchFamily="2" charset="0"/>
                        </a:rPr>
                        <a:t>Category</a:t>
                      </a:r>
                      <a:endParaRPr lang="en-GB" sz="1800" dirty="0">
                        <a:latin typeface="Antipasto Pro " panose="020005060200000200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>
                          <a:latin typeface="Antipasto Pro " panose="02000506020000020004" pitchFamily="2" charset="0"/>
                        </a:rPr>
                        <a:t>Meaning</a:t>
                      </a:r>
                      <a:endParaRPr lang="en-GB" sz="1800" dirty="0">
                        <a:latin typeface="Antipasto Pro " panose="020005060200000200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>
                          <a:latin typeface="Antipasto Pro " panose="02000506020000020004" pitchFamily="2" charset="0"/>
                        </a:rPr>
                        <a:t>Example</a:t>
                      </a:r>
                      <a:endParaRPr lang="en-GB" sz="1800">
                        <a:latin typeface="Antipasto Pro " panose="02000506020000020004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0691309"/>
                  </a:ext>
                </a:extLst>
              </a:tr>
              <a:tr h="838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>
                          <a:latin typeface="Antipasto Pro " panose="02000506020000020004" pitchFamily="2" charset="0"/>
                        </a:rPr>
                        <a:t>Generalized Hope</a:t>
                      </a:r>
                      <a:endParaRPr lang="en-GB" sz="1800" dirty="0">
                        <a:latin typeface="Antipasto Pro " panose="020005060200000200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latin typeface="Antipasto Pro " panose="02000506020000020004" pitchFamily="2" charset="0"/>
                        </a:rPr>
                        <a:t>Broad, non-specific optimism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>
                          <a:latin typeface="Antipasto Pro " panose="02000506020000020004" pitchFamily="2" charset="0"/>
                        </a:rPr>
                        <a:t>“No matter how hard things are, they will get better with time.”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9215055"/>
                  </a:ext>
                </a:extLst>
              </a:tr>
              <a:tr h="838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>
                          <a:latin typeface="Antipasto Pro " panose="02000506020000020004" pitchFamily="2" charset="0"/>
                        </a:rPr>
                        <a:t>Realistic Hope</a:t>
                      </a:r>
                      <a:endParaRPr lang="en-GB" sz="1800" dirty="0">
                        <a:latin typeface="Antipasto Pro " panose="020005060200000200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latin typeface="Antipasto Pro " panose="02000506020000020004" pitchFamily="2" charset="0"/>
                        </a:rPr>
                        <a:t>Achievable, effort-based optimism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latin typeface="Antipasto Pro " panose="02000506020000020004" pitchFamily="2" charset="0"/>
                        </a:rPr>
                        <a:t>“If I stay focused and keep working, I can pass the exam.”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9270418"/>
                  </a:ext>
                </a:extLst>
              </a:tr>
              <a:tr h="1198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>
                          <a:latin typeface="Antipasto Pro " panose="02000506020000020004" pitchFamily="2" charset="0"/>
                        </a:rPr>
                        <a:t>Unrealistic Hope</a:t>
                      </a:r>
                      <a:endParaRPr lang="en-GB" sz="1800" dirty="0">
                        <a:latin typeface="Antipasto Pro " panose="020005060200000200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>
                          <a:latin typeface="Antipasto Pro " panose="02000506020000020004" pitchFamily="2" charset="0"/>
                        </a:rPr>
                        <a:t>Improbable or impossible expectation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latin typeface="Antipasto Pro " panose="02000506020000020004" pitchFamily="2" charset="0"/>
                        </a:rPr>
                        <a:t>“If I try hard enough, I’m sure I can jump high enough to reach the moon.”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5565785"/>
                  </a:ext>
                </a:extLst>
              </a:tr>
              <a:tr h="838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>
                          <a:latin typeface="Antipasto Pro " panose="02000506020000020004" pitchFamily="2" charset="0"/>
                        </a:rPr>
                        <a:t>Not Hope</a:t>
                      </a:r>
                      <a:endParaRPr lang="en-GB" sz="1800" dirty="0">
                        <a:latin typeface="Antipasto Pro " panose="020005060200000200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>
                          <a:latin typeface="Antipasto Pro " panose="02000506020000020004" pitchFamily="2" charset="0"/>
                        </a:rPr>
                        <a:t>No optimism / negative or neutral sentiment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>
                          <a:latin typeface="Antipasto Pro " panose="02000506020000020004" pitchFamily="2" charset="0"/>
                        </a:rPr>
                        <a:t>“Nothing is going to improve, no matter what I do.”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4760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6817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506"/>
    </mc:Choice>
    <mc:Fallback xmlns="">
      <p:transition spd="slow" advTm="3050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94250-CECA-08F4-7FDD-82716C90E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5C83E2-17D3-FB2C-FFC0-C68F9F647277}"/>
              </a:ext>
            </a:extLst>
          </p:cNvPr>
          <p:cNvSpPr txBox="1"/>
          <p:nvPr/>
        </p:nvSpPr>
        <p:spPr>
          <a:xfrm>
            <a:off x="10543636" y="6273225"/>
            <a:ext cx="1648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3200" dirty="0">
                <a:latin typeface="Qurova DEMO" pitchFamily="2" charset="77"/>
              </a:rPr>
              <a:t>GHaLIB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253744-36AC-B87E-3030-FF0048D40A89}"/>
              </a:ext>
            </a:extLst>
          </p:cNvPr>
          <p:cNvSpPr txBox="1"/>
          <p:nvPr/>
        </p:nvSpPr>
        <p:spPr>
          <a:xfrm>
            <a:off x="561107" y="722807"/>
            <a:ext cx="48975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u="sng" dirty="0">
                <a:latin typeface="Trebuchet MS" panose="020B0703020202090204" pitchFamily="34" charset="0"/>
              </a:rPr>
              <a:t>Gaps in Existing Research</a:t>
            </a:r>
            <a:endParaRPr lang="en-PK" sz="3200" u="sng" dirty="0">
              <a:latin typeface="Trebuchet MS" panose="020B070302020209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2F729A-A1F1-9E5F-2A7E-7497C78DF49D}"/>
              </a:ext>
            </a:extLst>
          </p:cNvPr>
          <p:cNvSpPr txBox="1"/>
          <p:nvPr/>
        </p:nvSpPr>
        <p:spPr>
          <a:xfrm>
            <a:off x="561107" y="1739274"/>
            <a:ext cx="10842768" cy="3379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latin typeface="Antipasto Pro " panose="02000506020000020004" pitchFamily="2" charset="0"/>
              </a:rPr>
              <a:t>Most studies focus on </a:t>
            </a:r>
            <a:r>
              <a:rPr lang="en-GB" sz="2200" b="1" u="sng" dirty="0">
                <a:latin typeface="Antipasto Pro " panose="02000506020000020004" pitchFamily="2" charset="0"/>
              </a:rPr>
              <a:t>English</a:t>
            </a:r>
            <a:r>
              <a:rPr lang="en-GB" sz="2200" dirty="0">
                <a:latin typeface="Antipasto Pro " panose="02000506020000020004" pitchFamily="2" charset="0"/>
              </a:rPr>
              <a:t>, leaving low-resource languages underrepresented.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latin typeface="Antipasto Pro " panose="02000506020000020004" pitchFamily="2" charset="0"/>
              </a:rPr>
              <a:t>Existing datasets for hope speech are </a:t>
            </a:r>
            <a:r>
              <a:rPr lang="en-GB" sz="2200" b="1" u="sng" dirty="0">
                <a:latin typeface="Antipasto Pro " panose="02000506020000020004" pitchFamily="2" charset="0"/>
              </a:rPr>
              <a:t>limited or small</a:t>
            </a:r>
            <a:r>
              <a:rPr lang="en-GB" sz="2200" dirty="0">
                <a:latin typeface="Antipasto Pro " panose="02000506020000020004" pitchFamily="2" charset="0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latin typeface="Antipasto Pro " panose="02000506020000020004" pitchFamily="2" charset="0"/>
              </a:rPr>
              <a:t>Lexicon-based and classical ML methods fail to capture </a:t>
            </a:r>
            <a:r>
              <a:rPr lang="en-GB" sz="2200" b="1" u="sng" dirty="0">
                <a:latin typeface="Antipasto Pro " panose="02000506020000020004" pitchFamily="2" charset="0"/>
              </a:rPr>
              <a:t>context, sarcasm, and nuance</a:t>
            </a:r>
            <a:r>
              <a:rPr lang="en-GB" sz="2200" dirty="0">
                <a:latin typeface="Antipasto Pro " panose="02000506020000020004" pitchFamily="2" charset="0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latin typeface="Antipasto Pro " panose="02000506020000020004" pitchFamily="2" charset="0"/>
              </a:rPr>
              <a:t>Transformer models have been applied to hate/offensive speech, but </a:t>
            </a:r>
            <a:r>
              <a:rPr lang="en-GB" sz="2200" b="1" u="sng" dirty="0">
                <a:latin typeface="Antipasto Pro " panose="02000506020000020004" pitchFamily="2" charset="0"/>
              </a:rPr>
              <a:t>rarely to hope speech</a:t>
            </a:r>
            <a:r>
              <a:rPr lang="en-GB" sz="2200" dirty="0">
                <a:latin typeface="Antipasto Pro " panose="02000506020000020004" pitchFamily="2" charset="0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latin typeface="Antipasto Pro " panose="02000506020000020004" pitchFamily="2" charset="0"/>
              </a:rPr>
              <a:t>Lack of </a:t>
            </a:r>
            <a:r>
              <a:rPr lang="en-GB" sz="2200" b="1" u="sng" dirty="0">
                <a:latin typeface="Antipasto Pro " panose="02000506020000020004" pitchFamily="2" charset="0"/>
              </a:rPr>
              <a:t>multilingual frameworks</a:t>
            </a:r>
            <a:r>
              <a:rPr lang="en-GB" sz="2200" dirty="0">
                <a:latin typeface="Antipasto Pro " panose="02000506020000020004" pitchFamily="2" charset="0"/>
              </a:rPr>
              <a:t> that handle code-mixing and cultural variation.</a:t>
            </a:r>
          </a:p>
        </p:txBody>
      </p:sp>
    </p:spTree>
    <p:extLst>
      <p:ext uri="{BB962C8B-B14F-4D97-AF65-F5344CB8AC3E}">
        <p14:creationId xmlns:p14="http://schemas.microsoft.com/office/powerpoint/2010/main" val="217782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197"/>
    </mc:Choice>
    <mc:Fallback xmlns="">
      <p:transition spd="slow" advTm="4219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0C85B-F27E-9A9B-6121-DAA91E722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DBFA09-DC22-2572-A9C8-F127C2D89595}"/>
              </a:ext>
            </a:extLst>
          </p:cNvPr>
          <p:cNvSpPr txBox="1"/>
          <p:nvPr/>
        </p:nvSpPr>
        <p:spPr>
          <a:xfrm>
            <a:off x="10543636" y="6273225"/>
            <a:ext cx="1648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3200" dirty="0">
                <a:latin typeface="Qurova DEMO" pitchFamily="2" charset="77"/>
              </a:rPr>
              <a:t>GHaLIB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EF67CC-A2EB-0413-52C2-61C54D6BAF1D}"/>
              </a:ext>
            </a:extLst>
          </p:cNvPr>
          <p:cNvSpPr txBox="1"/>
          <p:nvPr/>
        </p:nvSpPr>
        <p:spPr>
          <a:xfrm>
            <a:off x="561107" y="722807"/>
            <a:ext cx="51469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u="sng" dirty="0">
                <a:latin typeface="Trebuchet MS" panose="020B0703020202090204" pitchFamily="34" charset="0"/>
              </a:rPr>
              <a:t>Contributions of </a:t>
            </a:r>
            <a:r>
              <a:rPr lang="en-GB" sz="3200" u="sng" dirty="0">
                <a:latin typeface="Qurova DEMO" pitchFamily="2" charset="77"/>
              </a:rPr>
              <a:t>GHaLIB</a:t>
            </a:r>
            <a:endParaRPr lang="en-PK" sz="3200" u="sng" dirty="0">
              <a:latin typeface="Qurova DEMO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5B5B48-0F16-FD61-6FDF-3BF0CDAFE195}"/>
              </a:ext>
            </a:extLst>
          </p:cNvPr>
          <p:cNvSpPr txBox="1"/>
          <p:nvPr/>
        </p:nvSpPr>
        <p:spPr>
          <a:xfrm>
            <a:off x="561107" y="1829029"/>
            <a:ext cx="10921144" cy="3678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ntipasto Pro " panose="02000506020000020004" pitchFamily="2" charset="0"/>
              </a:rPr>
              <a:t>Proposes a </a:t>
            </a:r>
            <a:r>
              <a:rPr lang="en-GB" sz="2400" b="1" u="sng" dirty="0">
                <a:latin typeface="Antipasto Pro " panose="02000506020000020004" pitchFamily="2" charset="0"/>
              </a:rPr>
              <a:t>multilingual framework</a:t>
            </a:r>
            <a:r>
              <a:rPr lang="en-GB" sz="2400" dirty="0">
                <a:latin typeface="Antipasto Pro " panose="02000506020000020004" pitchFamily="2" charset="0"/>
              </a:rPr>
              <a:t> for hope-speech detection.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ntipasto Pro " panose="02000506020000020004" pitchFamily="2" charset="0"/>
              </a:rPr>
              <a:t>Incorporates </a:t>
            </a:r>
            <a:r>
              <a:rPr lang="en-GB" sz="2400" b="1" u="sng" dirty="0">
                <a:latin typeface="Antipasto Pro " panose="02000506020000020004" pitchFamily="2" charset="0"/>
              </a:rPr>
              <a:t>language-specific encoders</a:t>
            </a:r>
            <a:r>
              <a:rPr lang="en-GB" sz="2400" dirty="0">
                <a:latin typeface="Antipasto Pro " panose="02000506020000020004" pitchFamily="2" charset="0"/>
              </a:rPr>
              <a:t> with a shared transformer backbone.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ntipasto Pro " panose="02000506020000020004" pitchFamily="2" charset="0"/>
              </a:rPr>
              <a:t>Achieves </a:t>
            </a:r>
            <a:r>
              <a:rPr lang="en-GB" sz="2400" b="1" u="sng" dirty="0">
                <a:latin typeface="Antipasto Pro " panose="02000506020000020004" pitchFamily="2" charset="0"/>
              </a:rPr>
              <a:t>state-of-the-art results</a:t>
            </a:r>
            <a:r>
              <a:rPr lang="en-GB" sz="2400" dirty="0">
                <a:latin typeface="Antipasto Pro " panose="02000506020000020004" pitchFamily="2" charset="0"/>
              </a:rPr>
              <a:t> on PolyHope-M </a:t>
            </a:r>
            <a:r>
              <a:rPr lang="en-GB" sz="2200" dirty="0">
                <a:latin typeface="Avenir Next" panose="020B0503020202020204" pitchFamily="34" charset="0"/>
              </a:rPr>
              <a:t>2025</a:t>
            </a:r>
            <a:r>
              <a:rPr lang="en-GB" sz="2400" dirty="0">
                <a:latin typeface="Antipasto Pro " panose="02000506020000020004" pitchFamily="2" charset="0"/>
              </a:rPr>
              <a:t> across four languages.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ntipasto Pro " panose="02000506020000020004" pitchFamily="2" charset="0"/>
              </a:rPr>
              <a:t>Demonstrates strong performance on </a:t>
            </a:r>
            <a:r>
              <a:rPr lang="en-GB" sz="2400" b="1" u="sng" dirty="0">
                <a:latin typeface="Antipasto Pro " panose="02000506020000020004" pitchFamily="2" charset="0"/>
              </a:rPr>
              <a:t>low-resource languages</a:t>
            </a:r>
            <a:r>
              <a:rPr lang="en-GB" sz="2400" dirty="0">
                <a:latin typeface="Antipasto Pro " panose="02000506020000020004" pitchFamily="2" charset="0"/>
              </a:rPr>
              <a:t> like Urdu.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ntipasto Pro " panose="02000506020000020004" pitchFamily="2" charset="0"/>
              </a:rPr>
              <a:t>Provides </a:t>
            </a:r>
            <a:r>
              <a:rPr lang="en-GB" sz="2400" b="1" u="sng" dirty="0">
                <a:latin typeface="Antipasto Pro " panose="02000506020000020004" pitchFamily="2" charset="0"/>
              </a:rPr>
              <a:t>publicly available code and resources</a:t>
            </a:r>
            <a:r>
              <a:rPr lang="en-GB" sz="2400" dirty="0">
                <a:latin typeface="Antipasto Pro " panose="02000506020000020004" pitchFamily="2" charset="0"/>
              </a:rPr>
              <a:t> for reproducibility.</a:t>
            </a:r>
          </a:p>
        </p:txBody>
      </p:sp>
    </p:spTree>
    <p:extLst>
      <p:ext uri="{BB962C8B-B14F-4D97-AF65-F5344CB8AC3E}">
        <p14:creationId xmlns:p14="http://schemas.microsoft.com/office/powerpoint/2010/main" val="809300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266"/>
    </mc:Choice>
    <mc:Fallback xmlns="">
      <p:transition spd="slow" advTm="3226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1F451-B0CE-83D8-E9F4-48DBEB2F5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0EFBA0-7A93-6281-4C4F-6779AAA35376}"/>
              </a:ext>
            </a:extLst>
          </p:cNvPr>
          <p:cNvSpPr txBox="1"/>
          <p:nvPr/>
        </p:nvSpPr>
        <p:spPr>
          <a:xfrm>
            <a:off x="10543636" y="6273225"/>
            <a:ext cx="1648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3200" dirty="0">
                <a:latin typeface="Qurova DEMO" pitchFamily="2" charset="77"/>
              </a:rPr>
              <a:t>GHaLIB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67D07E-6109-87FB-F5D9-7883396362CE}"/>
              </a:ext>
            </a:extLst>
          </p:cNvPr>
          <p:cNvSpPr txBox="1"/>
          <p:nvPr/>
        </p:nvSpPr>
        <p:spPr>
          <a:xfrm>
            <a:off x="561108" y="722807"/>
            <a:ext cx="41217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u="sng" dirty="0">
                <a:latin typeface="Trebuchet MS" panose="020B0703020202090204" pitchFamily="34" charset="0"/>
              </a:rPr>
              <a:t>Dataset Overview</a:t>
            </a:r>
            <a:endParaRPr lang="en-PK" sz="3200" u="sng" dirty="0">
              <a:latin typeface="Trebuchet MS" panose="020B0703020202090204" pitchFamily="34" charset="0"/>
            </a:endParaRPr>
          </a:p>
        </p:txBody>
      </p:sp>
      <p:pic>
        <p:nvPicPr>
          <p:cNvPr id="9" name="Picture 8" descr="A bar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3424E21D-2B42-B922-8401-CC7FC9FAC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92468"/>
            <a:ext cx="5632399" cy="4204467"/>
          </a:xfrm>
          <a:prstGeom prst="rect">
            <a:avLst/>
          </a:prstGeom>
        </p:spPr>
      </p:pic>
      <p:pic>
        <p:nvPicPr>
          <p:cNvPr id="11" name="Picture 10" descr="A bar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9F454BDB-52B3-9646-42E6-C02FBCC92F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1" y="1692468"/>
            <a:ext cx="5632399" cy="420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90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109"/>
    </mc:Choice>
    <mc:Fallback xmlns="">
      <p:transition spd="slow" advTm="3310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BC9A5-6494-2678-4D77-6A17A1CAD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0FFE1-E439-C210-7079-92AB32FE04F8}"/>
              </a:ext>
            </a:extLst>
          </p:cNvPr>
          <p:cNvSpPr txBox="1"/>
          <p:nvPr/>
        </p:nvSpPr>
        <p:spPr>
          <a:xfrm>
            <a:off x="10543636" y="6273225"/>
            <a:ext cx="1648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3200" dirty="0">
                <a:latin typeface="Qurova DEMO" pitchFamily="2" charset="77"/>
              </a:rPr>
              <a:t>GHaLIB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06C7EC-1D60-7159-20F0-BD8880BDC4E7}"/>
              </a:ext>
            </a:extLst>
          </p:cNvPr>
          <p:cNvSpPr txBox="1"/>
          <p:nvPr/>
        </p:nvSpPr>
        <p:spPr>
          <a:xfrm>
            <a:off x="561108" y="722807"/>
            <a:ext cx="41217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u="sng" dirty="0">
                <a:latin typeface="Trebuchet MS" panose="020B0703020202090204" pitchFamily="34" charset="0"/>
              </a:rPr>
              <a:t>Dataset Overview</a:t>
            </a:r>
            <a:endParaRPr lang="en-PK" sz="3200" u="sng" dirty="0">
              <a:latin typeface="Trebuchet MS" panose="020B070302020209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12C1C-B9CD-89E4-1880-7AF68A7A336C}"/>
              </a:ext>
            </a:extLst>
          </p:cNvPr>
          <p:cNvSpPr txBox="1"/>
          <p:nvPr/>
        </p:nvSpPr>
        <p:spPr>
          <a:xfrm>
            <a:off x="561108" y="1589874"/>
            <a:ext cx="9601199" cy="3678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ntipasto Pro " panose="02000506020000020004" pitchFamily="2" charset="0"/>
              </a:rPr>
              <a:t>Based on the </a:t>
            </a:r>
            <a:r>
              <a:rPr lang="en-GB" sz="2400" b="1" u="sng" dirty="0">
                <a:latin typeface="Antipasto Pro " panose="02000506020000020004" pitchFamily="2" charset="0"/>
              </a:rPr>
              <a:t>PolyHope-M </a:t>
            </a:r>
            <a:r>
              <a:rPr lang="en-GB" sz="2200" u="sng" dirty="0">
                <a:latin typeface="Avenir Next Medium" panose="020B0503020202020204" pitchFamily="34" charset="0"/>
              </a:rPr>
              <a:t>2025</a:t>
            </a:r>
            <a:r>
              <a:rPr lang="en-GB" sz="2400" dirty="0">
                <a:latin typeface="Antipasto Pro " panose="02000506020000020004" pitchFamily="2" charset="0"/>
              </a:rPr>
              <a:t> multilingual corpus.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ntipasto Pro " panose="02000506020000020004" pitchFamily="2" charset="0"/>
              </a:rPr>
              <a:t>Includes texts in </a:t>
            </a:r>
            <a:r>
              <a:rPr lang="en-GB" sz="2400" b="1" dirty="0">
                <a:latin typeface="Antipasto Pro " panose="02000506020000020004" pitchFamily="2" charset="0"/>
              </a:rPr>
              <a:t>Urdu, English, German, and Spanish</a:t>
            </a:r>
            <a:r>
              <a:rPr lang="en-GB" sz="2400" dirty="0">
                <a:latin typeface="Antipasto Pro " panose="02000506020000020004" pitchFamily="2" charset="0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ntipasto Pro " panose="02000506020000020004" pitchFamily="2" charset="0"/>
              </a:rPr>
              <a:t>Four labels: </a:t>
            </a:r>
            <a:r>
              <a:rPr lang="en-GB" sz="2400" b="1" u="sng" dirty="0">
                <a:latin typeface="Antipasto Pro " panose="02000506020000020004" pitchFamily="2" charset="0"/>
              </a:rPr>
              <a:t>Generalized</a:t>
            </a:r>
            <a:r>
              <a:rPr lang="en-GB" sz="2400" dirty="0">
                <a:latin typeface="Antipasto Pro " panose="02000506020000020004" pitchFamily="2" charset="0"/>
              </a:rPr>
              <a:t>, </a:t>
            </a:r>
            <a:r>
              <a:rPr lang="en-GB" sz="2400" b="1" u="sng" dirty="0">
                <a:latin typeface="Antipasto Pro " panose="02000506020000020004" pitchFamily="2" charset="0"/>
              </a:rPr>
              <a:t>Realistic</a:t>
            </a:r>
            <a:r>
              <a:rPr lang="en-GB" sz="2400" dirty="0">
                <a:latin typeface="Antipasto Pro " panose="02000506020000020004" pitchFamily="2" charset="0"/>
              </a:rPr>
              <a:t>, </a:t>
            </a:r>
            <a:r>
              <a:rPr lang="en-GB" sz="2400" b="1" u="sng" dirty="0">
                <a:latin typeface="Antipasto Pro " panose="02000506020000020004" pitchFamily="2" charset="0"/>
              </a:rPr>
              <a:t>Unrealistic</a:t>
            </a:r>
            <a:r>
              <a:rPr lang="en-GB" sz="2400" dirty="0">
                <a:latin typeface="Antipasto Pro " panose="02000506020000020004" pitchFamily="2" charset="0"/>
              </a:rPr>
              <a:t>, </a:t>
            </a:r>
            <a:r>
              <a:rPr lang="en-GB" sz="2400" b="1" u="sng" dirty="0">
                <a:latin typeface="Antipasto Pro " panose="02000506020000020004" pitchFamily="2" charset="0"/>
              </a:rPr>
              <a:t>Not Hope</a:t>
            </a:r>
            <a:r>
              <a:rPr lang="en-GB" sz="2400" dirty="0">
                <a:latin typeface="Antipasto Pro " panose="02000506020000020004" pitchFamily="2" charset="0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b="1" u="sng" dirty="0">
                <a:latin typeface="Antipasto Pro " panose="02000506020000020004" pitchFamily="2" charset="0"/>
              </a:rPr>
              <a:t>Class imbalance</a:t>
            </a:r>
            <a:r>
              <a:rPr lang="en-GB" sz="2400" u="sng" dirty="0">
                <a:latin typeface="Antipasto Pro " panose="02000506020000020004" pitchFamily="2" charset="0"/>
              </a:rPr>
              <a:t> </a:t>
            </a:r>
            <a:r>
              <a:rPr lang="en-GB" sz="2400" dirty="0">
                <a:latin typeface="Antipasto Pro " panose="02000506020000020004" pitchFamily="2" charset="0"/>
              </a:rPr>
              <a:t>observed — </a:t>
            </a:r>
            <a:r>
              <a:rPr lang="en-GB" sz="2400" i="1" dirty="0">
                <a:latin typeface="Antipasto Pro " panose="02000506020000020004" pitchFamily="2" charset="0"/>
              </a:rPr>
              <a:t>Not Hope</a:t>
            </a:r>
            <a:r>
              <a:rPr lang="en-GB" sz="2400" dirty="0">
                <a:latin typeface="Antipasto Pro " panose="02000506020000020004" pitchFamily="2" charset="0"/>
              </a:rPr>
              <a:t> is the most frequent category.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ntipasto Pro " panose="02000506020000020004" pitchFamily="2" charset="0"/>
              </a:rPr>
              <a:t>Noticeable </a:t>
            </a:r>
            <a:r>
              <a:rPr lang="en-GB" sz="2400" b="1" u="sng" dirty="0">
                <a:latin typeface="Antipasto Pro " panose="02000506020000020004" pitchFamily="2" charset="0"/>
              </a:rPr>
              <a:t>differences in text length and vocabulary</a:t>
            </a:r>
            <a:r>
              <a:rPr lang="en-GB" sz="2400" dirty="0">
                <a:latin typeface="Antipasto Pro " panose="02000506020000020004" pitchFamily="2" charset="0"/>
              </a:rPr>
              <a:t> across languages.</a:t>
            </a:r>
          </a:p>
        </p:txBody>
      </p:sp>
    </p:spTree>
    <p:extLst>
      <p:ext uri="{BB962C8B-B14F-4D97-AF65-F5344CB8AC3E}">
        <p14:creationId xmlns:p14="http://schemas.microsoft.com/office/powerpoint/2010/main" val="1319570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60"/>
    </mc:Choice>
    <mc:Fallback xmlns="">
      <p:transition spd="slow" advTm="736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DB4C8-21F3-CB69-EBDB-349A8C96E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1E14A8-9F3D-4E20-0C68-5148DE26BE1F}"/>
              </a:ext>
            </a:extLst>
          </p:cNvPr>
          <p:cNvSpPr txBox="1"/>
          <p:nvPr/>
        </p:nvSpPr>
        <p:spPr>
          <a:xfrm>
            <a:off x="10543636" y="6273225"/>
            <a:ext cx="1648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3200" dirty="0">
                <a:latin typeface="Qurova DEMO" pitchFamily="2" charset="77"/>
              </a:rPr>
              <a:t>GHaLIB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0DAE44-ABCB-B098-1AB5-DDB877AFC03D}"/>
              </a:ext>
            </a:extLst>
          </p:cNvPr>
          <p:cNvSpPr txBox="1"/>
          <p:nvPr/>
        </p:nvSpPr>
        <p:spPr>
          <a:xfrm>
            <a:off x="561108" y="722807"/>
            <a:ext cx="47174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u="sng" dirty="0">
                <a:latin typeface="Trebuchet MS" panose="020B0703020202090204" pitchFamily="34" charset="0"/>
              </a:rPr>
              <a:t>Methodology Overview</a:t>
            </a:r>
            <a:endParaRPr lang="en-PK" sz="3200" u="sng" dirty="0">
              <a:latin typeface="Trebuchet MS" panose="020B0703020202090204" pitchFamily="34" charset="0"/>
            </a:endParaRPr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EE1436CF-48A9-9D27-826E-C028D7E37E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21" t="7486" r="2765" b="5358"/>
          <a:stretch>
            <a:fillRect/>
          </a:stretch>
        </p:blipFill>
        <p:spPr>
          <a:xfrm>
            <a:off x="401204" y="1514783"/>
            <a:ext cx="11389592" cy="382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465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485"/>
    </mc:Choice>
    <mc:Fallback xmlns="">
      <p:transition spd="slow" advTm="10248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277A1-9A74-5690-08F0-4CB999A5D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F393DE-4B0E-B41B-51A5-8B2682B2412D}"/>
              </a:ext>
            </a:extLst>
          </p:cNvPr>
          <p:cNvSpPr txBox="1"/>
          <p:nvPr/>
        </p:nvSpPr>
        <p:spPr>
          <a:xfrm>
            <a:off x="10543636" y="6273225"/>
            <a:ext cx="1648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3200" dirty="0">
                <a:latin typeface="Qurova DEMO" pitchFamily="2" charset="77"/>
              </a:rPr>
              <a:t>GHaLIB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74BCC6-30C4-FB15-32F9-FD497A8F60A7}"/>
              </a:ext>
            </a:extLst>
          </p:cNvPr>
          <p:cNvSpPr txBox="1"/>
          <p:nvPr/>
        </p:nvSpPr>
        <p:spPr>
          <a:xfrm>
            <a:off x="561108" y="722807"/>
            <a:ext cx="47174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u="sng" dirty="0">
                <a:latin typeface="Trebuchet MS" panose="020B0703020202090204" pitchFamily="34" charset="0"/>
              </a:rPr>
              <a:t>Methodology Overview</a:t>
            </a:r>
            <a:endParaRPr lang="en-PK" sz="3200" u="sng" dirty="0">
              <a:latin typeface="Trebuchet MS" panose="020B070302020209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E858CE-5A39-8CC8-1915-E91338D74806}"/>
              </a:ext>
            </a:extLst>
          </p:cNvPr>
          <p:cNvSpPr txBox="1"/>
          <p:nvPr/>
        </p:nvSpPr>
        <p:spPr>
          <a:xfrm>
            <a:off x="561108" y="1589874"/>
            <a:ext cx="11244205" cy="3678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ntipasto Pro " panose="02000506020000020004" pitchFamily="2" charset="0"/>
              </a:rPr>
              <a:t>Detects language and routes input to a </a:t>
            </a:r>
            <a:r>
              <a:rPr lang="en-GB" sz="2400" b="1" u="sng" dirty="0">
                <a:latin typeface="Antipasto Pro " panose="02000506020000020004" pitchFamily="2" charset="0"/>
              </a:rPr>
              <a:t>language-specific encoder</a:t>
            </a:r>
            <a:r>
              <a:rPr lang="en-GB" sz="2400" dirty="0">
                <a:latin typeface="Antipasto Pro " panose="02000506020000020004" pitchFamily="2" charset="0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ntipasto Pro " panose="02000506020000020004" pitchFamily="2" charset="0"/>
              </a:rPr>
              <a:t>Uses </a:t>
            </a:r>
            <a:r>
              <a:rPr lang="en-GB" sz="2400" b="1" u="sng" dirty="0">
                <a:latin typeface="Antipasto Pro " panose="02000506020000020004" pitchFamily="2" charset="0"/>
              </a:rPr>
              <a:t>XLM-</a:t>
            </a:r>
            <a:r>
              <a:rPr lang="en-GB" sz="2400" b="1" u="sng" dirty="0" err="1">
                <a:latin typeface="Antipasto Pro " panose="02000506020000020004" pitchFamily="2" charset="0"/>
              </a:rPr>
              <a:t>RoBERTa</a:t>
            </a:r>
            <a:r>
              <a:rPr lang="en-GB" sz="2400" dirty="0">
                <a:latin typeface="Antipasto Pro " panose="02000506020000020004" pitchFamily="2" charset="0"/>
              </a:rPr>
              <a:t> as the shared multilingual backbone.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ntipasto Pro " panose="02000506020000020004" pitchFamily="2" charset="0"/>
              </a:rPr>
              <a:t>Text is </a:t>
            </a:r>
            <a:r>
              <a:rPr lang="en-GB" sz="2400" b="1" dirty="0">
                <a:latin typeface="Antipasto Pro " panose="02000506020000020004" pitchFamily="2" charset="0"/>
              </a:rPr>
              <a:t>normalized, tokenized</a:t>
            </a:r>
            <a:r>
              <a:rPr lang="en-GB" sz="2400" dirty="0">
                <a:latin typeface="Antipasto Pro " panose="02000506020000020004" pitchFamily="2" charset="0"/>
              </a:rPr>
              <a:t>, and padded/truncated to </a:t>
            </a:r>
            <a:r>
              <a:rPr lang="en-GB" sz="2200" dirty="0">
                <a:latin typeface="Avenir Next" panose="020B0503020202020204" pitchFamily="34" charset="0"/>
              </a:rPr>
              <a:t>128</a:t>
            </a:r>
            <a:r>
              <a:rPr lang="en-GB" sz="2400" dirty="0">
                <a:latin typeface="Antipasto Pro " panose="02000506020000020004" pitchFamily="2" charset="0"/>
              </a:rPr>
              <a:t> tokens.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ntipasto Pro " panose="02000506020000020004" pitchFamily="2" charset="0"/>
              </a:rPr>
              <a:t>Combines encoder outputs for </a:t>
            </a:r>
            <a:r>
              <a:rPr lang="en-GB" sz="2400" b="1" u="sng" dirty="0">
                <a:latin typeface="Antipasto Pro " panose="02000506020000020004" pitchFamily="2" charset="0"/>
              </a:rPr>
              <a:t>context-aware classification</a:t>
            </a:r>
            <a:r>
              <a:rPr lang="en-GB" sz="2400" dirty="0">
                <a:latin typeface="Antipasto Pro " panose="02000506020000020004" pitchFamily="2" charset="0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ntipasto Pro " panose="02000506020000020004" pitchFamily="2" charset="0"/>
              </a:rPr>
              <a:t>Handles imbalance using </a:t>
            </a:r>
            <a:r>
              <a:rPr lang="en-GB" sz="2400" b="1" u="sng" dirty="0">
                <a:latin typeface="Antipasto Pro " panose="02000506020000020004" pitchFamily="2" charset="0"/>
              </a:rPr>
              <a:t>weighted loss</a:t>
            </a:r>
            <a:r>
              <a:rPr lang="en-GB" sz="2400" dirty="0">
                <a:latin typeface="Antipasto Pro " panose="02000506020000020004" pitchFamily="2" charset="0"/>
              </a:rPr>
              <a:t> during training.</a:t>
            </a:r>
          </a:p>
        </p:txBody>
      </p:sp>
    </p:spTree>
    <p:extLst>
      <p:ext uri="{BB962C8B-B14F-4D97-AF65-F5344CB8AC3E}">
        <p14:creationId xmlns:p14="http://schemas.microsoft.com/office/powerpoint/2010/main" val="578690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634"/>
    </mc:Choice>
    <mc:Fallback xmlns="">
      <p:transition spd="slow" advTm="2263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48BD5-01CC-7873-D3C4-BADD783D1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54F32E-E046-DC83-F367-778110DF4058}"/>
              </a:ext>
            </a:extLst>
          </p:cNvPr>
          <p:cNvSpPr txBox="1"/>
          <p:nvPr/>
        </p:nvSpPr>
        <p:spPr>
          <a:xfrm>
            <a:off x="10543636" y="6273225"/>
            <a:ext cx="1648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3200" dirty="0">
                <a:latin typeface="Qurova DEMO" pitchFamily="2" charset="77"/>
              </a:rPr>
              <a:t>GHaLIB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0847B7-8B3E-9DB9-7DD1-EFCA98E4B6F4}"/>
              </a:ext>
            </a:extLst>
          </p:cNvPr>
          <p:cNvSpPr txBox="1"/>
          <p:nvPr/>
        </p:nvSpPr>
        <p:spPr>
          <a:xfrm>
            <a:off x="561108" y="722807"/>
            <a:ext cx="41217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u="sng" dirty="0">
                <a:latin typeface="Trebuchet MS" panose="020B0703020202090204" pitchFamily="34" charset="0"/>
              </a:rPr>
              <a:t>Model Training Setup</a:t>
            </a:r>
            <a:endParaRPr lang="en-PK" sz="3200" u="sng" dirty="0">
              <a:latin typeface="Trebuchet MS" panose="020B070302020209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DB63CF-CF69-DA93-ACC9-F5DD8D74B24A}"/>
              </a:ext>
            </a:extLst>
          </p:cNvPr>
          <p:cNvSpPr txBox="1"/>
          <p:nvPr/>
        </p:nvSpPr>
        <p:spPr>
          <a:xfrm>
            <a:off x="561107" y="1804337"/>
            <a:ext cx="10702637" cy="3678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ntipasto Pro " panose="02000506020000020004" pitchFamily="2" charset="0"/>
              </a:rPr>
              <a:t>Used weighted cross-entropy to address class imbalance.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ntipasto Pro " panose="02000506020000020004" pitchFamily="2" charset="0"/>
              </a:rPr>
              <a:t>Optuna used for hyperparameter tuning (</a:t>
            </a:r>
            <a:r>
              <a:rPr lang="en-GB" sz="2200" dirty="0">
                <a:latin typeface="Avenir Next" panose="020B0503020202020204" pitchFamily="34" charset="0"/>
              </a:rPr>
              <a:t>30</a:t>
            </a:r>
            <a:r>
              <a:rPr lang="en-GB" sz="2400" dirty="0">
                <a:latin typeface="Antipasto Pro " panose="02000506020000020004" pitchFamily="2" charset="0"/>
              </a:rPr>
              <a:t> trials).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ntipasto Pro " panose="02000506020000020004" pitchFamily="2" charset="0"/>
              </a:rPr>
              <a:t>Trained on </a:t>
            </a:r>
            <a:r>
              <a:rPr lang="en-GB" sz="2200" dirty="0">
                <a:latin typeface="Avenir Next" panose="020B0503020202020204" pitchFamily="34" charset="0"/>
              </a:rPr>
              <a:t>2×16</a:t>
            </a:r>
            <a:r>
              <a:rPr lang="en-GB" sz="2400" dirty="0">
                <a:latin typeface="Antipasto Pro " panose="02000506020000020004" pitchFamily="2" charset="0"/>
              </a:rPr>
              <a:t>GB NVIDIA T</a:t>
            </a:r>
            <a:r>
              <a:rPr lang="en-GB" sz="2200" dirty="0">
                <a:latin typeface="Avenir Next" panose="020B0503020202020204" pitchFamily="34" charset="0"/>
              </a:rPr>
              <a:t>4</a:t>
            </a:r>
            <a:r>
              <a:rPr lang="en-GB" sz="2400" dirty="0">
                <a:latin typeface="Antipasto Pro " panose="02000506020000020004" pitchFamily="2" charset="0"/>
              </a:rPr>
              <a:t> GPUs.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ntipasto Pro " panose="02000506020000020004" pitchFamily="2" charset="0"/>
              </a:rPr>
              <a:t>Stratified </a:t>
            </a:r>
            <a:r>
              <a:rPr lang="en-GB" sz="2200" dirty="0">
                <a:latin typeface="Avenir Next" panose="020B0503020202020204" pitchFamily="34" charset="0"/>
              </a:rPr>
              <a:t>70/15/15</a:t>
            </a:r>
            <a:r>
              <a:rPr lang="en-GB" sz="2400" dirty="0">
                <a:latin typeface="Antipasto Pro " panose="02000506020000020004" pitchFamily="2" charset="0"/>
              </a:rPr>
              <a:t> train–validation–test split.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ntipasto Pro " panose="02000506020000020004" pitchFamily="2" charset="0"/>
              </a:rPr>
              <a:t>Fixed seeds for reproducibility.</a:t>
            </a:r>
          </a:p>
        </p:txBody>
      </p:sp>
    </p:spTree>
    <p:extLst>
      <p:ext uri="{BB962C8B-B14F-4D97-AF65-F5344CB8AC3E}">
        <p14:creationId xmlns:p14="http://schemas.microsoft.com/office/powerpoint/2010/main" val="2165870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749"/>
    </mc:Choice>
    <mc:Fallback xmlns="">
      <p:transition spd="slow" advTm="29749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FDE71-2FB6-A47A-4D0B-B1EC9F7E4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9D64E3-98A8-91C2-6FD0-CCF98AE8B7B5}"/>
              </a:ext>
            </a:extLst>
          </p:cNvPr>
          <p:cNvSpPr txBox="1"/>
          <p:nvPr/>
        </p:nvSpPr>
        <p:spPr>
          <a:xfrm>
            <a:off x="10543636" y="6273225"/>
            <a:ext cx="1648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3200" dirty="0">
                <a:latin typeface="Qurova DEMO" pitchFamily="2" charset="77"/>
              </a:rPr>
              <a:t>GHaLIB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90513C-A81A-8D87-88E2-3B2BC33D73E4}"/>
              </a:ext>
            </a:extLst>
          </p:cNvPr>
          <p:cNvSpPr txBox="1"/>
          <p:nvPr/>
        </p:nvSpPr>
        <p:spPr>
          <a:xfrm>
            <a:off x="561107" y="722807"/>
            <a:ext cx="52993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u="sng" dirty="0">
                <a:latin typeface="Trebuchet MS" panose="020B0703020202090204" pitchFamily="34" charset="0"/>
              </a:rPr>
              <a:t>Binary Classification Results</a:t>
            </a:r>
            <a:endParaRPr lang="en-PK" sz="3200" u="sng" dirty="0">
              <a:latin typeface="Trebuchet MS" panose="020B070302020209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038212-8B76-9F0F-4699-7E2F53732A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062134"/>
              </p:ext>
            </p:extLst>
          </p:nvPr>
        </p:nvGraphicFramePr>
        <p:xfrm>
          <a:off x="593989" y="2017316"/>
          <a:ext cx="10532966" cy="347472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699985">
                  <a:extLst>
                    <a:ext uri="{9D8B030D-6E8A-4147-A177-3AD203B41FA5}">
                      <a16:colId xmlns:a16="http://schemas.microsoft.com/office/drawing/2014/main" val="1748983059"/>
                    </a:ext>
                  </a:extLst>
                </a:gridCol>
                <a:gridCol w="2513202">
                  <a:extLst>
                    <a:ext uri="{9D8B030D-6E8A-4147-A177-3AD203B41FA5}">
                      <a16:colId xmlns:a16="http://schemas.microsoft.com/office/drawing/2014/main" val="3379901296"/>
                    </a:ext>
                  </a:extLst>
                </a:gridCol>
                <a:gridCol w="2106593">
                  <a:extLst>
                    <a:ext uri="{9D8B030D-6E8A-4147-A177-3AD203B41FA5}">
                      <a16:colId xmlns:a16="http://schemas.microsoft.com/office/drawing/2014/main" val="1240525405"/>
                    </a:ext>
                  </a:extLst>
                </a:gridCol>
                <a:gridCol w="2106593">
                  <a:extLst>
                    <a:ext uri="{9D8B030D-6E8A-4147-A177-3AD203B41FA5}">
                      <a16:colId xmlns:a16="http://schemas.microsoft.com/office/drawing/2014/main" val="3655628666"/>
                    </a:ext>
                  </a:extLst>
                </a:gridCol>
                <a:gridCol w="2106593">
                  <a:extLst>
                    <a:ext uri="{9D8B030D-6E8A-4147-A177-3AD203B41FA5}">
                      <a16:colId xmlns:a16="http://schemas.microsoft.com/office/drawing/2014/main" val="3015627433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 dirty="0">
                          <a:latin typeface="Antipasto Pro " panose="02000506020000020004" pitchFamily="2" charset="0"/>
                        </a:rPr>
                        <a:t>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 dirty="0">
                          <a:latin typeface="Antipasto Pro " panose="02000506020000020004" pitchFamily="2" charset="0"/>
                        </a:rPr>
                        <a:t>Model (SOTA)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 dirty="0">
                          <a:latin typeface="Antipasto Pro " panose="02000506020000020004" pitchFamily="2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 dirty="0">
                          <a:latin typeface="Antipasto Pro " panose="02000506020000020004" pitchFamily="2" charset="0"/>
                        </a:rPr>
                        <a:t>F</a:t>
                      </a:r>
                      <a:r>
                        <a:rPr lang="en-GB" sz="1700" b="0" dirty="0">
                          <a:latin typeface="Avenir Next" panose="020B0503020202020204" pitchFamily="34" charset="0"/>
                        </a:rPr>
                        <a:t>1</a:t>
                      </a:r>
                      <a:r>
                        <a:rPr lang="en-GB" sz="1800" b="1" dirty="0">
                          <a:latin typeface="Antipasto Pro " panose="02000506020000020004" pitchFamily="2" charset="0"/>
                        </a:rPr>
                        <a:t>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 dirty="0">
                          <a:latin typeface="Antipasto Pro " panose="02000506020000020004" pitchFamily="2" charset="0"/>
                        </a:rPr>
                        <a:t>Ranking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2413196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 dirty="0">
                          <a:latin typeface="Antipasto Pro " panose="02000506020000020004" pitchFamily="2" charset="0"/>
                        </a:rPr>
                        <a:t>Urdu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0" dirty="0">
                          <a:latin typeface="Antipasto Pro " panose="02000506020000020004" pitchFamily="2" charset="0"/>
                        </a:rPr>
                        <a:t>XLM-</a:t>
                      </a:r>
                      <a:r>
                        <a:rPr lang="en-GB" sz="1800" b="0" dirty="0" err="1">
                          <a:latin typeface="Antipasto Pro " panose="02000506020000020004" pitchFamily="2" charset="0"/>
                        </a:rPr>
                        <a:t>RoBERTa</a:t>
                      </a:r>
                      <a:r>
                        <a:rPr lang="en-GB" sz="1800" b="0" dirty="0">
                          <a:latin typeface="Antipasto Pro " panose="02000506020000020004" pitchFamily="2" charset="0"/>
                        </a:rPr>
                        <a:t> + UrduBERT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600" b="0" dirty="0">
                          <a:latin typeface="Avenir Next" panose="020B0503020202020204" pitchFamily="34" charset="0"/>
                        </a:rPr>
                        <a:t>95.0%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600" b="0">
                          <a:latin typeface="Avenir Next" panose="020B0503020202020204" pitchFamily="34" charset="0"/>
                        </a:rPr>
                        <a:t>95.0%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0" dirty="0">
                          <a:latin typeface="Avenir Next" panose="020B0503020202020204" pitchFamily="34" charset="0"/>
                        </a:rPr>
                        <a:t>1</a:t>
                      </a:r>
                      <a:r>
                        <a:rPr lang="en-GB" sz="1600" b="0" dirty="0">
                          <a:latin typeface="Antipasto Pro " panose="02000506020000020004" pitchFamily="2" charset="0"/>
                        </a:rPr>
                        <a:t>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4783687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 dirty="0">
                          <a:latin typeface="Antipasto Pro " panose="02000506020000020004" pitchFamily="2" charset="0"/>
                        </a:rPr>
                        <a:t>German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0" dirty="0">
                          <a:latin typeface="Antipasto Pro " panose="02000506020000020004" pitchFamily="2" charset="0"/>
                        </a:rPr>
                        <a:t>XLM-</a:t>
                      </a:r>
                      <a:r>
                        <a:rPr lang="en-GB" sz="1800" b="0" dirty="0" err="1">
                          <a:latin typeface="Antipasto Pro " panose="02000506020000020004" pitchFamily="2" charset="0"/>
                        </a:rPr>
                        <a:t>RoBERTa</a:t>
                      </a:r>
                      <a:r>
                        <a:rPr lang="en-GB" sz="1800" b="0" dirty="0">
                          <a:latin typeface="Antipasto Pro " panose="02000506020000020004" pitchFamily="2" charset="0"/>
                        </a:rPr>
                        <a:t> + EuroBERT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600" b="0" dirty="0">
                          <a:latin typeface="Avenir Next" panose="020B0503020202020204" pitchFamily="34" charset="0"/>
                        </a:rPr>
                        <a:t>87.1%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600" b="0">
                          <a:latin typeface="Avenir Next" panose="020B0503020202020204" pitchFamily="34" charset="0"/>
                        </a:rPr>
                        <a:t>87.4%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0" dirty="0">
                          <a:latin typeface="Avenir Next" panose="020B0503020202020204" pitchFamily="34" charset="0"/>
                        </a:rPr>
                        <a:t>2</a:t>
                      </a:r>
                      <a:r>
                        <a:rPr lang="en-GB" sz="1600" b="0" dirty="0">
                          <a:latin typeface="Antipasto Pro " panose="02000506020000020004" pitchFamily="2" charset="0"/>
                        </a:rPr>
                        <a:t>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0242174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 dirty="0">
                          <a:latin typeface="Antipasto Pro " panose="02000506020000020004" pitchFamily="2" charset="0"/>
                        </a:rPr>
                        <a:t>English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0" dirty="0">
                          <a:latin typeface="Antipasto Pro " panose="02000506020000020004" pitchFamily="2" charset="0"/>
                        </a:rPr>
                        <a:t>XLM-</a:t>
                      </a:r>
                      <a:r>
                        <a:rPr lang="en-GB" sz="1800" b="0" dirty="0" err="1">
                          <a:latin typeface="Antipasto Pro " panose="02000506020000020004" pitchFamily="2" charset="0"/>
                        </a:rPr>
                        <a:t>RoBERTa</a:t>
                      </a:r>
                      <a:r>
                        <a:rPr lang="en-GB" sz="1800" b="0" dirty="0">
                          <a:latin typeface="Antipasto Pro " panose="02000506020000020004" pitchFamily="2" charset="0"/>
                        </a:rPr>
                        <a:t> (Base)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600" b="0" dirty="0">
                          <a:latin typeface="Avenir Next" panose="020B0503020202020204" pitchFamily="34" charset="0"/>
                        </a:rPr>
                        <a:t>86.3%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600" b="0">
                          <a:latin typeface="Avenir Next" panose="020B0503020202020204" pitchFamily="34" charset="0"/>
                        </a:rPr>
                        <a:t>86.3%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0" dirty="0">
                          <a:latin typeface="Avenir Next" panose="020B0503020202020204" pitchFamily="34" charset="0"/>
                        </a:rPr>
                        <a:t>2</a:t>
                      </a:r>
                      <a:r>
                        <a:rPr lang="en-GB" sz="1600" b="0" dirty="0">
                          <a:latin typeface="Antipasto Pro " panose="02000506020000020004" pitchFamily="2" charset="0"/>
                        </a:rPr>
                        <a:t>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6596604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 dirty="0">
                          <a:latin typeface="Antipasto Pro " panose="02000506020000020004" pitchFamily="2" charset="0"/>
                        </a:rPr>
                        <a:t>Spanish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0" dirty="0">
                          <a:latin typeface="Antipasto Pro " panose="02000506020000020004" pitchFamily="2" charset="0"/>
                        </a:rPr>
                        <a:t>XLM-</a:t>
                      </a:r>
                      <a:r>
                        <a:rPr lang="en-GB" sz="1800" b="0" dirty="0" err="1">
                          <a:latin typeface="Antipasto Pro " panose="02000506020000020004" pitchFamily="2" charset="0"/>
                        </a:rPr>
                        <a:t>RoBERTa</a:t>
                      </a:r>
                      <a:r>
                        <a:rPr lang="en-GB" sz="1800" b="0" dirty="0">
                          <a:latin typeface="Antipasto Pro " panose="02000506020000020004" pitchFamily="2" charset="0"/>
                        </a:rPr>
                        <a:t> + EuroBERT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600" b="0" dirty="0">
                          <a:latin typeface="Avenir Next" panose="020B0503020202020204" pitchFamily="34" charset="0"/>
                        </a:rPr>
                        <a:t>85.0%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600" b="0" dirty="0">
                          <a:latin typeface="Avenir Next" panose="020B0503020202020204" pitchFamily="34" charset="0"/>
                        </a:rPr>
                        <a:t>85.0%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0" dirty="0">
                          <a:latin typeface="Avenir Next" panose="020B0503020202020204" pitchFamily="34" charset="0"/>
                        </a:rPr>
                        <a:t>1</a:t>
                      </a:r>
                      <a:r>
                        <a:rPr lang="en-GB" sz="1600" b="0" dirty="0">
                          <a:latin typeface="Antipasto Pro " panose="02000506020000020004" pitchFamily="2" charset="0"/>
                        </a:rPr>
                        <a:t>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7806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782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589"/>
    </mc:Choice>
    <mc:Fallback xmlns="">
      <p:transition spd="slow" advTm="25589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487C9-F36D-A7D3-3225-EF0FE0986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988C09-2D98-FB1A-691F-3516ED58B4AF}"/>
              </a:ext>
            </a:extLst>
          </p:cNvPr>
          <p:cNvSpPr txBox="1"/>
          <p:nvPr/>
        </p:nvSpPr>
        <p:spPr>
          <a:xfrm>
            <a:off x="10543636" y="6273225"/>
            <a:ext cx="1648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3200" dirty="0">
                <a:latin typeface="Qurova DEMO" pitchFamily="2" charset="77"/>
              </a:rPr>
              <a:t>GHaLIB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F51B3E-7FBB-6C70-B93F-4CBC77430627}"/>
              </a:ext>
            </a:extLst>
          </p:cNvPr>
          <p:cNvSpPr txBox="1"/>
          <p:nvPr/>
        </p:nvSpPr>
        <p:spPr>
          <a:xfrm>
            <a:off x="561107" y="722807"/>
            <a:ext cx="65739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u="sng" dirty="0">
                <a:latin typeface="Trebuchet MS" panose="020B0703020202090204" pitchFamily="34" charset="0"/>
              </a:rPr>
              <a:t>Multiclass Classification Results</a:t>
            </a:r>
            <a:endParaRPr lang="en-PK" sz="3200" u="sng" dirty="0">
              <a:latin typeface="Trebuchet MS" panose="020B070302020209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212F83F-9C7B-6AA1-97EA-50830C658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896591"/>
              </p:ext>
            </p:extLst>
          </p:nvPr>
        </p:nvGraphicFramePr>
        <p:xfrm>
          <a:off x="561107" y="2016509"/>
          <a:ext cx="10648167" cy="3710605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553277">
                  <a:extLst>
                    <a:ext uri="{9D8B030D-6E8A-4147-A177-3AD203B41FA5}">
                      <a16:colId xmlns:a16="http://schemas.microsoft.com/office/drawing/2014/main" val="2652762077"/>
                    </a:ext>
                  </a:extLst>
                </a:gridCol>
                <a:gridCol w="3166941">
                  <a:extLst>
                    <a:ext uri="{9D8B030D-6E8A-4147-A177-3AD203B41FA5}">
                      <a16:colId xmlns:a16="http://schemas.microsoft.com/office/drawing/2014/main" val="2471551631"/>
                    </a:ext>
                  </a:extLst>
                </a:gridCol>
                <a:gridCol w="1668683">
                  <a:extLst>
                    <a:ext uri="{9D8B030D-6E8A-4147-A177-3AD203B41FA5}">
                      <a16:colId xmlns:a16="http://schemas.microsoft.com/office/drawing/2014/main" val="3745523178"/>
                    </a:ext>
                  </a:extLst>
                </a:gridCol>
                <a:gridCol w="2129633">
                  <a:extLst>
                    <a:ext uri="{9D8B030D-6E8A-4147-A177-3AD203B41FA5}">
                      <a16:colId xmlns:a16="http://schemas.microsoft.com/office/drawing/2014/main" val="2661519837"/>
                    </a:ext>
                  </a:extLst>
                </a:gridCol>
                <a:gridCol w="2129633">
                  <a:extLst>
                    <a:ext uri="{9D8B030D-6E8A-4147-A177-3AD203B41FA5}">
                      <a16:colId xmlns:a16="http://schemas.microsoft.com/office/drawing/2014/main" val="972751038"/>
                    </a:ext>
                  </a:extLst>
                </a:gridCol>
              </a:tblGrid>
              <a:tr h="7421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>
                          <a:latin typeface="Antipasto Pro " panose="02000506020000020004" pitchFamily="2" charset="0"/>
                        </a:rPr>
                        <a:t>Language</a:t>
                      </a:r>
                      <a:endParaRPr lang="en-GB" sz="1800">
                        <a:latin typeface="Antipasto Pro " panose="020005060200000200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>
                          <a:latin typeface="Antipasto Pro " panose="02000506020000020004" pitchFamily="2" charset="0"/>
                        </a:rPr>
                        <a:t>Model (SOTA)</a:t>
                      </a:r>
                      <a:endParaRPr lang="en-GB" sz="1800">
                        <a:latin typeface="Antipasto Pro " panose="020005060200000200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>
                          <a:latin typeface="Antipasto Pro " panose="02000506020000020004" pitchFamily="2" charset="0"/>
                        </a:rPr>
                        <a:t>Accuracy</a:t>
                      </a:r>
                      <a:endParaRPr lang="en-GB" sz="1800">
                        <a:latin typeface="Antipasto Pro " panose="020005060200000200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 dirty="0">
                          <a:latin typeface="Antipasto Pro " panose="02000506020000020004" pitchFamily="2" charset="0"/>
                        </a:rPr>
                        <a:t>F</a:t>
                      </a:r>
                      <a:r>
                        <a:rPr lang="en-GB" sz="1700" b="0" dirty="0">
                          <a:latin typeface="Avenir Next" panose="020B0503020202020204" pitchFamily="34" charset="0"/>
                        </a:rPr>
                        <a:t>1</a:t>
                      </a:r>
                      <a:r>
                        <a:rPr lang="en-GB" sz="1800" b="1" dirty="0">
                          <a:latin typeface="Antipasto Pro " panose="02000506020000020004" pitchFamily="2" charset="0"/>
                        </a:rPr>
                        <a:t> Score</a:t>
                      </a:r>
                      <a:endParaRPr lang="en-GB" sz="1800" dirty="0">
                        <a:latin typeface="Antipasto Pro " panose="020005060200000200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>
                          <a:latin typeface="Antipasto Pro " panose="02000506020000020004" pitchFamily="2" charset="0"/>
                        </a:rPr>
                        <a:t>Ranking</a:t>
                      </a:r>
                      <a:endParaRPr lang="en-GB" sz="1800">
                        <a:latin typeface="Antipasto Pro " panose="02000506020000020004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7533985"/>
                  </a:ext>
                </a:extLst>
              </a:tr>
              <a:tr h="7421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 dirty="0">
                          <a:latin typeface="Antipasto Pro " panose="02000506020000020004" pitchFamily="2" charset="0"/>
                        </a:rPr>
                        <a:t>Urdu</a:t>
                      </a:r>
                      <a:endParaRPr lang="en-GB" sz="1800" dirty="0">
                        <a:latin typeface="Antipasto Pro " panose="020005060200000200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>
                          <a:latin typeface="Antipasto Pro " panose="02000506020000020004" pitchFamily="2" charset="0"/>
                        </a:rPr>
                        <a:t>RoBERTa Urdu (ADB/SVM/LGB)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600" b="0" dirty="0">
                          <a:latin typeface="Avenir Next" panose="020B0503020202020204" pitchFamily="34" charset="0"/>
                        </a:rPr>
                        <a:t>78.3%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600" b="0">
                          <a:latin typeface="Avenir Next" panose="020B0503020202020204" pitchFamily="34" charset="0"/>
                        </a:rPr>
                        <a:t>65.2%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0" dirty="0">
                          <a:latin typeface="Avenir Next" panose="020B0503020202020204" pitchFamily="34" charset="0"/>
                        </a:rPr>
                        <a:t>1st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448777"/>
                  </a:ext>
                </a:extLst>
              </a:tr>
              <a:tr h="7421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>
                          <a:latin typeface="Antipasto Pro " panose="02000506020000020004" pitchFamily="2" charset="0"/>
                        </a:rPr>
                        <a:t>English</a:t>
                      </a:r>
                      <a:endParaRPr lang="en-GB" sz="1800">
                        <a:latin typeface="Antipasto Pro " panose="020005060200000200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>
                          <a:latin typeface="Antipasto Pro " panose="02000506020000020004" pitchFamily="2" charset="0"/>
                        </a:rPr>
                        <a:t>XLM-RoBERTa (Base)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600" b="0" dirty="0">
                          <a:latin typeface="Avenir Next" panose="020B0503020202020204" pitchFamily="34" charset="0"/>
                        </a:rPr>
                        <a:t>77.2%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600" b="0">
                          <a:latin typeface="Avenir Next" panose="020B0503020202020204" pitchFamily="34" charset="0"/>
                        </a:rPr>
                        <a:t>71.0%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0" dirty="0">
                          <a:latin typeface="Avenir Next" panose="020B0503020202020204" pitchFamily="34" charset="0"/>
                        </a:rPr>
                        <a:t>2nd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0144687"/>
                  </a:ext>
                </a:extLst>
              </a:tr>
              <a:tr h="7421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>
                          <a:latin typeface="Antipasto Pro " panose="02000506020000020004" pitchFamily="2" charset="0"/>
                        </a:rPr>
                        <a:t>Spanish</a:t>
                      </a:r>
                      <a:endParaRPr lang="en-GB" sz="1800">
                        <a:latin typeface="Antipasto Pro " panose="020005060200000200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>
                          <a:latin typeface="Antipasto Pro " panose="02000506020000020004" pitchFamily="2" charset="0"/>
                        </a:rPr>
                        <a:t>XLM-RoBERTa + EuroBERT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600" b="0" dirty="0">
                          <a:latin typeface="Avenir Next" panose="020B0503020202020204" pitchFamily="34" charset="0"/>
                        </a:rPr>
                        <a:t>75.3%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600" b="0">
                          <a:latin typeface="Avenir Next" panose="020B0503020202020204" pitchFamily="34" charset="0"/>
                        </a:rPr>
                        <a:t>68.5%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0">
                          <a:latin typeface="Avenir Next" panose="020B0503020202020204" pitchFamily="34" charset="0"/>
                        </a:rPr>
                        <a:t>3rd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6237779"/>
                  </a:ext>
                </a:extLst>
              </a:tr>
              <a:tr h="7421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>
                          <a:latin typeface="Antipasto Pro " panose="02000506020000020004" pitchFamily="2" charset="0"/>
                        </a:rPr>
                        <a:t>German</a:t>
                      </a:r>
                      <a:endParaRPr lang="en-GB" sz="1800">
                        <a:latin typeface="Antipasto Pro " panose="02000506020000020004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>
                          <a:latin typeface="Antipasto Pro " panose="02000506020000020004" pitchFamily="2" charset="0"/>
                        </a:rPr>
                        <a:t>XLM-</a:t>
                      </a:r>
                      <a:r>
                        <a:rPr lang="en-GB" sz="1800" dirty="0" err="1">
                          <a:latin typeface="Antipasto Pro " panose="02000506020000020004" pitchFamily="2" charset="0"/>
                        </a:rPr>
                        <a:t>RoBERTa</a:t>
                      </a:r>
                      <a:r>
                        <a:rPr lang="en-GB" sz="1800" dirty="0">
                          <a:latin typeface="Antipasto Pro " panose="02000506020000020004" pitchFamily="2" charset="0"/>
                        </a:rPr>
                        <a:t> + EuroBERT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600" b="0" dirty="0">
                          <a:latin typeface="Avenir Next" panose="020B0503020202020204" pitchFamily="34" charset="0"/>
                        </a:rPr>
                        <a:t>83.4%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K" sz="1600" b="0" dirty="0">
                          <a:latin typeface="Avenir Next" panose="020B0503020202020204" pitchFamily="34" charset="0"/>
                        </a:rPr>
                        <a:t>70.1%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0" dirty="0">
                          <a:latin typeface="Avenir Next" panose="020B0503020202020204" pitchFamily="34" charset="0"/>
                        </a:rPr>
                        <a:t>1st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0322923"/>
                  </a:ext>
                </a:extLst>
              </a:tr>
            </a:tbl>
          </a:graphicData>
        </a:graphic>
      </p:graphicFrame>
      <p:pic>
        <p:nvPicPr>
          <p:cNvPr id="7" name="Audio 6">
            <a:extLst>
              <a:ext uri="{FF2B5EF4-FFF2-40B4-BE49-F238E27FC236}">
                <a16:creationId xmlns:a16="http://schemas.microsoft.com/office/drawing/2014/main" id="{BF187EF0-1DFF-1255-82A4-E00ED7F5C08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365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525"/>
    </mc:Choice>
    <mc:Fallback xmlns="">
      <p:transition spd="slow" advTm="375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71AC5-4F7F-B5D1-146C-C85C0D622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49125C-0B13-2F09-6661-D638D0CE596A}"/>
              </a:ext>
            </a:extLst>
          </p:cNvPr>
          <p:cNvSpPr txBox="1"/>
          <p:nvPr/>
        </p:nvSpPr>
        <p:spPr>
          <a:xfrm>
            <a:off x="10543636" y="6273225"/>
            <a:ext cx="1648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3200" dirty="0">
                <a:latin typeface="Qurova DEMO" pitchFamily="2" charset="77"/>
              </a:rPr>
              <a:t>GHaLIB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34D8E2-B6A2-22C0-669C-853DBA80B782}"/>
              </a:ext>
            </a:extLst>
          </p:cNvPr>
          <p:cNvSpPr txBox="1"/>
          <p:nvPr/>
        </p:nvSpPr>
        <p:spPr>
          <a:xfrm>
            <a:off x="561108" y="722807"/>
            <a:ext cx="41217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u="sng" dirty="0">
                <a:latin typeface="Trebuchet MS" panose="020B0703020202090204" pitchFamily="34" charset="0"/>
              </a:rPr>
              <a:t>Key Observations</a:t>
            </a:r>
            <a:endParaRPr lang="en-PK" sz="3200" u="sng" dirty="0">
              <a:latin typeface="Trebuchet MS" panose="020B070302020209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D60939-B65F-F483-E6C7-FBBD3D6CBDA2}"/>
              </a:ext>
            </a:extLst>
          </p:cNvPr>
          <p:cNvSpPr txBox="1"/>
          <p:nvPr/>
        </p:nvSpPr>
        <p:spPr>
          <a:xfrm>
            <a:off x="561108" y="1885227"/>
            <a:ext cx="11301040" cy="3678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b="1" u="sng" dirty="0">
                <a:latin typeface="Antipasto Pro " panose="02000506020000020004" pitchFamily="2" charset="0"/>
              </a:rPr>
              <a:t>Language-specific encoders</a:t>
            </a:r>
            <a:r>
              <a:rPr lang="en-GB" sz="2400" dirty="0">
                <a:latin typeface="Antipasto Pro " panose="02000506020000020004" pitchFamily="2" charset="0"/>
              </a:rPr>
              <a:t> significantly boost performance for Urdu &amp; German.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b="1" u="sng" dirty="0">
                <a:latin typeface="Antipasto Pro " panose="02000506020000020004" pitchFamily="2" charset="0"/>
              </a:rPr>
              <a:t>Multilingual transformers</a:t>
            </a:r>
            <a:r>
              <a:rPr lang="en-GB" sz="2400" dirty="0">
                <a:latin typeface="Antipasto Pro " panose="02000506020000020004" pitchFamily="2" charset="0"/>
              </a:rPr>
              <a:t> generalize well across all languages in binary tasks.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b="1" u="sng" dirty="0">
                <a:latin typeface="Antipasto Pro " panose="02000506020000020004" pitchFamily="2" charset="0"/>
              </a:rPr>
              <a:t>Multiclass classification is harder</a:t>
            </a:r>
            <a:r>
              <a:rPr lang="en-GB" sz="2400" dirty="0">
                <a:latin typeface="Antipasto Pro " panose="02000506020000020004" pitchFamily="2" charset="0"/>
              </a:rPr>
              <a:t> due to overlapping vocabulary and subtle distinctions.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b="1" u="sng" dirty="0">
                <a:latin typeface="Antipasto Pro " panose="02000506020000020004" pitchFamily="2" charset="0"/>
              </a:rPr>
              <a:t>English performs strongly</a:t>
            </a:r>
            <a:r>
              <a:rPr lang="en-GB" sz="2400" dirty="0">
                <a:latin typeface="Antipasto Pro " panose="02000506020000020004" pitchFamily="2" charset="0"/>
              </a:rPr>
              <a:t> because of richer pretraining resources.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ntipasto Pro " panose="02000506020000020004" pitchFamily="2" charset="0"/>
              </a:rPr>
              <a:t>Most errors arise from </a:t>
            </a:r>
            <a:r>
              <a:rPr lang="en-GB" sz="2400" b="1" u="sng" dirty="0">
                <a:latin typeface="Antipasto Pro " panose="02000506020000020004" pitchFamily="2" charset="0"/>
              </a:rPr>
              <a:t>code-mixing and context ambiguity</a:t>
            </a:r>
            <a:r>
              <a:rPr lang="en-GB" sz="2400" dirty="0">
                <a:latin typeface="Antipasto Pro " panose="02000506020000020004" pitchFamily="2" charset="0"/>
              </a:rPr>
              <a:t>, not model weakness.</a:t>
            </a:r>
          </a:p>
        </p:txBody>
      </p:sp>
    </p:spTree>
    <p:extLst>
      <p:ext uri="{BB962C8B-B14F-4D97-AF65-F5344CB8AC3E}">
        <p14:creationId xmlns:p14="http://schemas.microsoft.com/office/powerpoint/2010/main" val="401967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189"/>
    </mc:Choice>
    <mc:Fallback xmlns="">
      <p:transition spd="slow" advTm="31189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252FB-12D5-AE5E-0A92-E0414A526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466103-B5FD-5B34-0662-FFE795699402}"/>
              </a:ext>
            </a:extLst>
          </p:cNvPr>
          <p:cNvSpPr txBox="1"/>
          <p:nvPr/>
        </p:nvSpPr>
        <p:spPr>
          <a:xfrm>
            <a:off x="10543636" y="6273225"/>
            <a:ext cx="1648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3200" dirty="0">
                <a:latin typeface="Qurova DEMO" pitchFamily="2" charset="77"/>
              </a:rPr>
              <a:t>GHaLIB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531BB6-9625-A659-01E8-4C625936C4F2}"/>
              </a:ext>
            </a:extLst>
          </p:cNvPr>
          <p:cNvSpPr txBox="1"/>
          <p:nvPr/>
        </p:nvSpPr>
        <p:spPr>
          <a:xfrm>
            <a:off x="561108" y="722807"/>
            <a:ext cx="41217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u="sng" dirty="0">
                <a:latin typeface="Trebuchet MS" panose="020B0703020202090204" pitchFamily="34" charset="0"/>
              </a:rPr>
              <a:t>Conclusion</a:t>
            </a:r>
            <a:endParaRPr lang="en-PK" sz="3200" u="sng" dirty="0">
              <a:latin typeface="Trebuchet MS" panose="020B070302020209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89707C-84B8-F93E-0FA6-E1F479AAA0BC}"/>
              </a:ext>
            </a:extLst>
          </p:cNvPr>
          <p:cNvSpPr txBox="1"/>
          <p:nvPr/>
        </p:nvSpPr>
        <p:spPr>
          <a:xfrm>
            <a:off x="561108" y="1589874"/>
            <a:ext cx="11182611" cy="3678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Qurova DEMO" pitchFamily="2" charset="77"/>
              </a:rPr>
              <a:t>GHaLIB</a:t>
            </a:r>
            <a:r>
              <a:rPr lang="en-GB" sz="2400" dirty="0">
                <a:latin typeface="Antipasto Pro " panose="02000506020000020004" pitchFamily="2" charset="0"/>
              </a:rPr>
              <a:t> provides a </a:t>
            </a:r>
            <a:r>
              <a:rPr lang="en-GB" sz="2400" b="1" u="sng" dirty="0">
                <a:latin typeface="Antipasto Pro " panose="02000506020000020004" pitchFamily="2" charset="0"/>
              </a:rPr>
              <a:t>robust multilingual framework</a:t>
            </a:r>
            <a:r>
              <a:rPr lang="en-GB" sz="2400" dirty="0">
                <a:latin typeface="Antipasto Pro " panose="02000506020000020004" pitchFamily="2" charset="0"/>
              </a:rPr>
              <a:t> for hope-speech detection.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ntipasto Pro " panose="02000506020000020004" pitchFamily="2" charset="0"/>
              </a:rPr>
              <a:t>Achieves </a:t>
            </a:r>
            <a:r>
              <a:rPr lang="en-GB" sz="2400" b="1" u="sng" dirty="0">
                <a:latin typeface="Antipasto Pro " panose="02000506020000020004" pitchFamily="2" charset="0"/>
              </a:rPr>
              <a:t>state-of-the-art performance</a:t>
            </a:r>
            <a:r>
              <a:rPr lang="en-GB" sz="2400" dirty="0">
                <a:latin typeface="Antipasto Pro " panose="02000506020000020004" pitchFamily="2" charset="0"/>
              </a:rPr>
              <a:t> across four languages.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ntipasto Pro " panose="02000506020000020004" pitchFamily="2" charset="0"/>
              </a:rPr>
              <a:t>Shows strong results even in </a:t>
            </a:r>
            <a:r>
              <a:rPr lang="en-GB" sz="2400" b="1" u="sng" dirty="0">
                <a:latin typeface="Antipasto Pro " panose="02000506020000020004" pitchFamily="2" charset="0"/>
              </a:rPr>
              <a:t>low-resource settings</a:t>
            </a:r>
            <a:r>
              <a:rPr lang="en-GB" sz="2400" dirty="0">
                <a:latin typeface="Antipasto Pro " panose="02000506020000020004" pitchFamily="2" charset="0"/>
              </a:rPr>
              <a:t> like Urdu.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ntipasto Pro " panose="02000506020000020004" pitchFamily="2" charset="0"/>
              </a:rPr>
              <a:t>Demonstrates the value of combining </a:t>
            </a:r>
            <a:r>
              <a:rPr lang="en-GB" sz="2400" b="1" u="sng" dirty="0">
                <a:latin typeface="Antipasto Pro " panose="02000506020000020004" pitchFamily="2" charset="0"/>
              </a:rPr>
              <a:t>language-specific encoders</a:t>
            </a:r>
            <a:r>
              <a:rPr lang="en-GB" sz="2400" dirty="0">
                <a:latin typeface="Antipasto Pro " panose="02000506020000020004" pitchFamily="2" charset="0"/>
              </a:rPr>
              <a:t> with XLM-</a:t>
            </a:r>
            <a:r>
              <a:rPr lang="en-GB" sz="2400" dirty="0" err="1">
                <a:latin typeface="Antipasto Pro " panose="02000506020000020004" pitchFamily="2" charset="0"/>
              </a:rPr>
              <a:t>RoBERTa</a:t>
            </a:r>
            <a:r>
              <a:rPr lang="en-GB" sz="2400" dirty="0">
                <a:latin typeface="Antipasto Pro " panose="02000506020000020004" pitchFamily="2" charset="0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ntipasto Pro " panose="02000506020000020004" pitchFamily="2" charset="0"/>
              </a:rPr>
              <a:t>Establishes a solid foundation for </a:t>
            </a:r>
            <a:r>
              <a:rPr lang="en-GB" sz="2400" b="1" u="sng" dirty="0">
                <a:latin typeface="Antipasto Pro " panose="02000506020000020004" pitchFamily="2" charset="0"/>
              </a:rPr>
              <a:t>future multilingual NLP research</a:t>
            </a:r>
            <a:r>
              <a:rPr lang="en-GB" sz="2400" dirty="0">
                <a:latin typeface="Antipasto Pro " panose="02000506020000020004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906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629"/>
    </mc:Choice>
    <mc:Fallback xmlns="">
      <p:transition spd="slow" advTm="20629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8AF53-EFC9-51BF-8433-DDDA86917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C48D6A-F729-9B7C-BE26-53F42F88962B}"/>
              </a:ext>
            </a:extLst>
          </p:cNvPr>
          <p:cNvSpPr txBox="1"/>
          <p:nvPr/>
        </p:nvSpPr>
        <p:spPr>
          <a:xfrm>
            <a:off x="10543636" y="6273225"/>
            <a:ext cx="1648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3200" dirty="0">
                <a:latin typeface="Qurova DEMO" pitchFamily="2" charset="77"/>
              </a:rPr>
              <a:t>GHaLIB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E25D28-8366-626F-3250-F54D02C0E7F7}"/>
              </a:ext>
            </a:extLst>
          </p:cNvPr>
          <p:cNvSpPr txBox="1"/>
          <p:nvPr/>
        </p:nvSpPr>
        <p:spPr>
          <a:xfrm>
            <a:off x="561108" y="722807"/>
            <a:ext cx="41217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u="sng" dirty="0">
                <a:latin typeface="Trebuchet MS" panose="020B0703020202090204" pitchFamily="34" charset="0"/>
              </a:rPr>
              <a:t>Future Work</a:t>
            </a:r>
            <a:endParaRPr lang="en-PK" sz="3200" u="sng" dirty="0">
              <a:latin typeface="Trebuchet MS" panose="020B070302020209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482437-8B5D-A897-EC56-F661094B8002}"/>
              </a:ext>
            </a:extLst>
          </p:cNvPr>
          <p:cNvSpPr txBox="1"/>
          <p:nvPr/>
        </p:nvSpPr>
        <p:spPr>
          <a:xfrm>
            <a:off x="647178" y="2328538"/>
            <a:ext cx="10897643" cy="2200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ntipasto Pro " panose="02000506020000020004" pitchFamily="2" charset="0"/>
              </a:rPr>
              <a:t>Extend framework to more </a:t>
            </a:r>
            <a:r>
              <a:rPr lang="en-GB" sz="2400" b="1" dirty="0">
                <a:latin typeface="Antipasto Pro " panose="02000506020000020004" pitchFamily="2" charset="0"/>
              </a:rPr>
              <a:t>low-resource languages</a:t>
            </a:r>
            <a:r>
              <a:rPr lang="en-GB" sz="2400" dirty="0">
                <a:latin typeface="Antipasto Pro " panose="02000506020000020004" pitchFamily="2" charset="0"/>
              </a:rPr>
              <a:t> (e.g., Punjabi, Sindhi, Seraiki).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ntipasto Pro " panose="02000506020000020004" pitchFamily="2" charset="0"/>
              </a:rPr>
              <a:t>Explore </a:t>
            </a:r>
            <a:r>
              <a:rPr lang="en-GB" sz="2400" b="1" dirty="0">
                <a:latin typeface="Antipasto Pro " panose="02000506020000020004" pitchFamily="2" charset="0"/>
              </a:rPr>
              <a:t>domain-specific pretraining</a:t>
            </a:r>
            <a:r>
              <a:rPr lang="en-GB" sz="2400" dirty="0">
                <a:latin typeface="Antipasto Pro " panose="02000506020000020004" pitchFamily="2" charset="0"/>
              </a:rPr>
              <a:t> and </a:t>
            </a:r>
            <a:r>
              <a:rPr lang="en-GB" sz="2400" b="1" dirty="0">
                <a:latin typeface="Antipasto Pro " panose="02000506020000020004" pitchFamily="2" charset="0"/>
              </a:rPr>
              <a:t>parameter-efficient fine-tuning</a:t>
            </a:r>
            <a:r>
              <a:rPr lang="en-GB" sz="2400" dirty="0">
                <a:latin typeface="Antipasto Pro " panose="02000506020000020004" pitchFamily="2" charset="0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ntipasto Pro " panose="02000506020000020004" pitchFamily="2" charset="0"/>
              </a:rPr>
              <a:t>Improve handling of </a:t>
            </a:r>
            <a:r>
              <a:rPr lang="en-GB" sz="2400" b="1" dirty="0">
                <a:latin typeface="Antipasto Pro " panose="02000506020000020004" pitchFamily="2" charset="0"/>
              </a:rPr>
              <a:t>code-mixing and contextual ambiguity</a:t>
            </a:r>
            <a:r>
              <a:rPr lang="en-GB" sz="2400" dirty="0">
                <a:latin typeface="Antipasto Pro " panose="02000506020000020004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2655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28"/>
    </mc:Choice>
    <mc:Fallback xmlns="">
      <p:transition spd="slow" advTm="36128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BDAC8-37B8-40DD-F877-40D06592D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26C6E1-B815-5BE1-9A3F-C713A702BD47}"/>
              </a:ext>
            </a:extLst>
          </p:cNvPr>
          <p:cNvSpPr txBox="1"/>
          <p:nvPr/>
        </p:nvSpPr>
        <p:spPr>
          <a:xfrm>
            <a:off x="10543636" y="6273225"/>
            <a:ext cx="1648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3200" dirty="0">
                <a:latin typeface="Qurova DEMO" pitchFamily="2" charset="77"/>
              </a:rPr>
              <a:t>GHaLIB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49F314-343B-DD2C-A53D-FF4922C7A980}"/>
              </a:ext>
            </a:extLst>
          </p:cNvPr>
          <p:cNvSpPr txBox="1"/>
          <p:nvPr/>
        </p:nvSpPr>
        <p:spPr>
          <a:xfrm>
            <a:off x="4660488" y="2875002"/>
            <a:ext cx="287102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6600" u="sng" dirty="0">
                <a:latin typeface="Trebuchet MS" panose="020B0703020202090204" pitchFamily="34" charset="0"/>
              </a:rPr>
              <a:t>Q&amp;A</a:t>
            </a:r>
            <a:endParaRPr lang="en-PK" sz="6600" u="sng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874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01"/>
    </mc:Choice>
    <mc:Fallback xmlns="">
      <p:transition spd="slow" advTm="610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2734</TotalTime>
  <Words>1588</Words>
  <Application>Microsoft Macintosh PowerPoint</Application>
  <PresentationFormat>Widescreen</PresentationFormat>
  <Paragraphs>218</Paragraphs>
  <Slides>17</Slides>
  <Notes>17</Notes>
  <HiddenSlides>0</HiddenSlides>
  <MMClips>2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Antipasto Pro </vt:lpstr>
      <vt:lpstr>Antipasto Pro DemiBold</vt:lpstr>
      <vt:lpstr>Antipasto Pro Medium</vt:lpstr>
      <vt:lpstr>Aptos</vt:lpstr>
      <vt:lpstr>Aptos Display</vt:lpstr>
      <vt:lpstr>Arial</vt:lpstr>
      <vt:lpstr>Avenir Next</vt:lpstr>
      <vt:lpstr>Avenir Next Medium</vt:lpstr>
      <vt:lpstr>Consolas</vt:lpstr>
      <vt:lpstr>Qurova DEMO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l227503Ahmad Abdullah</dc:creator>
  <cp:lastModifiedBy>l227503Ahmad Abdullah</cp:lastModifiedBy>
  <cp:revision>104</cp:revision>
  <cp:lastPrinted>2025-12-10T10:08:41Z</cp:lastPrinted>
  <dcterms:created xsi:type="dcterms:W3CDTF">2025-07-13T15:40:18Z</dcterms:created>
  <dcterms:modified xsi:type="dcterms:W3CDTF">2025-12-13T09:02:12Z</dcterms:modified>
</cp:coreProperties>
</file>