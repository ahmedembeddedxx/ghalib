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68" r:id="rId5"/>
    <p:sldId id="258" r:id="rId6"/>
    <p:sldId id="261" r:id="rId7"/>
    <p:sldId id="263" r:id="rId8"/>
    <p:sldId id="264" r:id="rId9"/>
    <p:sldId id="267" r:id="rId10"/>
    <p:sldId id="270" r:id="rId11"/>
    <p:sldId id="272" r:id="rId12"/>
    <p:sldId id="276" r:id="rId13"/>
    <p:sldId id="275" r:id="rId14"/>
    <p:sldId id="277" r:id="rId15"/>
    <p:sldId id="279" r:id="rId16"/>
    <p:sldId id="280" r:id="rId17"/>
    <p:sldId id="281" r:id="rId18"/>
    <p:sldId id="282" r:id="rId19"/>
    <p:sldId id="273" r:id="rId20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7"/>
    <p:restoredTop sz="94683"/>
  </p:normalViewPr>
  <p:slideViewPr>
    <p:cSldViewPr snapToGrid="0">
      <p:cViewPr>
        <p:scale>
          <a:sx n="98" d="100"/>
          <a:sy n="98" d="100"/>
        </p:scale>
        <p:origin x="90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7CFF0-9CF2-3E6C-20EC-5F78E45860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26CA3E-45AD-5738-D3CC-F90AFD523D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1274D-ED80-C4DD-16FB-0E5BBBA2C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05BC5-ABF0-8B23-7418-0BC4A0FD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3FCE33-805E-D72A-92FD-971C4CD29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4326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4D8F0-101A-1390-C0FD-A91508EAB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EDA26-F1EF-6EC8-C70A-649FED771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6E6CB0-8B40-9C67-7127-56795EB30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1EC20-989D-5FC9-655E-E55B1E44B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46A5E-6182-741E-B3CE-0E29EAC4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0228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E8AA2-C66F-D669-4A7E-417E8916A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9CD8C-655E-7EFD-F27C-E5DDC83FB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C4FE6-65FC-CDD7-80B6-29C4327F0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2B00B9-8C0D-FFB9-3856-ACE4A9F25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F2FA8-C04F-97C9-A5A0-F140BCD3B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56687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F2AC-FD18-0233-52E9-3D32CEDE89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DFCEE-A586-E679-DB68-F8E700B720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E59D3F-9142-D9B5-8AF2-E4AC44F0CD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CDCB5B-346A-5546-7B3B-611D69B5B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516786-B20B-7AF9-0C7A-C896BD33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574BC0-0AEC-07C9-3B7B-BE135BE0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2528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41561-D8AD-6179-D303-23739E18C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AFC1F-61CB-42BA-313C-C45D4256B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E111AD-8B9E-6BA7-9E5F-9F3A929A69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081CC5-1868-E91A-E943-F1D678099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B32B68-64E3-5A45-23D3-1771B35391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9D9966-6159-2245-E9D5-34F2709BF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C21416-3BE4-0C61-F304-0AB62313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4BB6AB-7FBD-A8BA-FE06-B9246692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30911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7F055-027E-88F9-A095-79B6C398FE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3ABCF9-F7DB-3FDB-4545-D741B8D37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4C0320-BA13-C4AC-2D56-B30A99669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688E7-55F3-A332-FF1D-49F135C17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44890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F7DDFD-348F-9FE1-D583-BE8D0BAF9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E07964-94DE-A828-B810-6346997D4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599E4-5B89-2852-FCD4-032D9991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26428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FD868-4577-45EE-E407-6135E156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412CD-1DE3-8D9C-5485-04BEF7D76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21C518-078A-A546-3AF3-76B2B9E1E7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2B5CA-6DB9-331B-BEEF-CAF802C4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E17E1-8FDA-40D7-BC40-D1C22722C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3370CF-050A-A721-F440-AB29DF16B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6703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39497-2529-B16B-8D05-9AD2DF355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7522C0-3172-CE06-A911-F30A7F5DF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AC253D-58D3-5943-0167-B2B1EEBA5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FD5AFD-9CD5-9F0D-E8E2-5357ADBD2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E676B9-BE03-950C-C0A2-32A21ABD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2EE512-924A-BB70-DA98-C8BDCEA2F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36013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990EE-D910-B1D7-1678-32E973B42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5921A0-A48B-B763-B8A2-CA4073DF2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3D81E-6BD0-A603-CEFC-E6F2800C0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FA685-3F08-A539-BA4C-C73AA0C66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B9404-B77E-D157-15DA-1E751EB8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13402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5B1CCC-3870-94BE-4AE1-A43880EF50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04E6F5-B0E2-4CE9-A9A8-C42FDD19C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C28BC-11B1-0078-860B-F21D8DDED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A04C5-3123-96E0-C28F-D543B545D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85B55-2EBC-9182-8F2B-2BA2891BE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64732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BC8F80-D733-6688-E3EC-FAEB787CE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5E0A4B-E0C8-7283-D0A4-E103BEE7A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04CFA-FA5F-4265-6B09-97411E2A1D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12AE03-E8AD-3E4E-9EB3-4614F461CEE0}" type="datetimeFigureOut">
              <a:rPr lang="en-PK" smtClean="0"/>
              <a:t>13/04/2025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751696-9ED7-BAEC-9EE1-837F6597AC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E2BC22-963D-10C7-CACB-B3BD357E0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05A10A-B2E6-734E-A099-53ED9B2F469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1948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044F7-FA85-0CC5-5AA0-6C349753A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2520"/>
            <a:ext cx="9144000" cy="2387600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9EEEB0-5B09-FB19-2D38-FE42D8DCF1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b="1" u="sng" dirty="0">
                <a:latin typeface="PT Mono" panose="02060509020205020204" pitchFamily="49" charset="77"/>
              </a:rPr>
              <a:t>G</a:t>
            </a:r>
            <a:r>
              <a:rPr lang="en-US" dirty="0">
                <a:latin typeface="PT Mono" panose="02060509020205020204" pitchFamily="49" charset="77"/>
              </a:rPr>
              <a:t>enerating</a:t>
            </a:r>
            <a:r>
              <a:rPr lang="en-US" b="1" dirty="0">
                <a:latin typeface="PT Mono" panose="02060509020205020204" pitchFamily="49" charset="77"/>
              </a:rPr>
              <a:t> </a:t>
            </a:r>
            <a:r>
              <a:rPr lang="en-US" b="1" u="sng" dirty="0">
                <a:latin typeface="PT Mono" panose="02060509020205020204" pitchFamily="49" charset="77"/>
              </a:rPr>
              <a:t>H</a:t>
            </a:r>
            <a:r>
              <a:rPr lang="en-US" dirty="0">
                <a:latin typeface="PT Mono" panose="02060509020205020204" pitchFamily="49" charset="77"/>
              </a:rPr>
              <a:t>ope </a:t>
            </a:r>
            <a:r>
              <a:rPr lang="en-US" b="1" u="sng" dirty="0">
                <a:latin typeface="PT Mono" panose="02060509020205020204" pitchFamily="49" charset="77"/>
              </a:rPr>
              <a:t>a</a:t>
            </a:r>
            <a:r>
              <a:rPr lang="en-US" dirty="0">
                <a:latin typeface="PT Mono" panose="02060509020205020204" pitchFamily="49" charset="77"/>
              </a:rPr>
              <a:t>nd </a:t>
            </a:r>
            <a:r>
              <a:rPr lang="en-US" b="1" u="sng" dirty="0">
                <a:latin typeface="PT Mono" panose="02060509020205020204" pitchFamily="49" charset="77"/>
              </a:rPr>
              <a:t>L</a:t>
            </a:r>
            <a:r>
              <a:rPr lang="en-US" dirty="0">
                <a:latin typeface="PT Mono" panose="02060509020205020204" pitchFamily="49" charset="77"/>
              </a:rPr>
              <a:t>inguistic </a:t>
            </a:r>
            <a:r>
              <a:rPr lang="en-US" b="1" u="sng" dirty="0">
                <a:latin typeface="PT Mono" panose="02060509020205020204" pitchFamily="49" charset="77"/>
              </a:rPr>
              <a:t>I</a:t>
            </a:r>
            <a:r>
              <a:rPr lang="en-US" dirty="0">
                <a:latin typeface="PT Mono" panose="02060509020205020204" pitchFamily="49" charset="77"/>
              </a:rPr>
              <a:t>rony in </a:t>
            </a:r>
            <a:r>
              <a:rPr lang="en-US" b="1" u="sng" dirty="0">
                <a:latin typeface="PT Mono" panose="02060509020205020204" pitchFamily="49" charset="77"/>
              </a:rPr>
              <a:t>B</a:t>
            </a:r>
            <a:r>
              <a:rPr lang="en-US" dirty="0">
                <a:latin typeface="PT Mono" panose="02060509020205020204" pitchFamily="49" charset="77"/>
              </a:rPr>
              <a:t>anter</a:t>
            </a:r>
          </a:p>
          <a:p>
            <a: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b="1" dirty="0">
              <a:latin typeface="PT Mono" panose="02060509020205020204" pitchFamily="49" charset="77"/>
            </a:endParaRPr>
          </a:p>
          <a:p>
            <a: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b="1" u="sng" dirty="0">
                <a:latin typeface="PT Mono" panose="02060509020205020204" pitchFamily="49" charset="77"/>
              </a:rPr>
              <a:t>PolyHope-M</a:t>
            </a:r>
            <a:r>
              <a:rPr lang="en-US" dirty="0">
                <a:latin typeface="PT Mono" panose="02060509020205020204" pitchFamily="49" charset="77"/>
              </a:rPr>
              <a:t> (Multilingual Hope Speech Classification) at </a:t>
            </a:r>
            <a:r>
              <a:rPr lang="en-US" b="1" u="sng" dirty="0">
                <a:latin typeface="PT Mono" panose="02060509020205020204" pitchFamily="49" charset="77"/>
              </a:rPr>
              <a:t>RANLP 2025</a:t>
            </a:r>
            <a:r>
              <a:rPr lang="en-US" dirty="0">
                <a:latin typeface="PT Mono" panose="02060509020205020204" pitchFamily="49" charset="77"/>
              </a:rPr>
              <a:t> @Bulgaria </a:t>
            </a: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1E63A102-E410-C3B3-61DF-886228B75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567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9B827-D51C-F7D6-3E81-7F0A9CB1F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F4E4F6-A32C-1A08-A1B1-CB62FD4CF2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67840" y="1865587"/>
            <a:ext cx="6864096" cy="1655762"/>
          </a:xfrm>
        </p:spPr>
        <p:txBody>
          <a:bodyPr>
            <a:normAutofit lnSpcReduction="10000"/>
          </a:bodyPr>
          <a:lstStyle/>
          <a:p>
            <a: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b="1" u="sng" dirty="0">
                <a:latin typeface="PT Mono" panose="02060509020205020204" pitchFamily="49" charset="77"/>
              </a:rPr>
              <a:t>Presenter(s) </a:t>
            </a:r>
          </a:p>
          <a:p>
            <a: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>
                <a:latin typeface="PT Mono" panose="02060509020205020204" pitchFamily="49" charset="77"/>
              </a:rPr>
              <a:t>Noman Jaffar (FAST-NU)</a:t>
            </a:r>
          </a:p>
          <a:p>
            <a: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>
                <a:latin typeface="PT Mono" panose="02060509020205020204" pitchFamily="49" charset="77"/>
              </a:rPr>
              <a:t>Ahmed Abdullah (MMSL, JKU)</a:t>
            </a:r>
          </a:p>
          <a:p>
            <a:pPr marL="0" indent="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>
                <a:latin typeface="PT Mono" panose="02060509020205020204" pitchFamily="49" charset="77"/>
              </a:rPr>
              <a:t>Abdullah Ibrahim (FAST-NU)</a:t>
            </a: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8E9D4CE8-FE69-3D47-D0D5-70DB87FB6D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10" name="Subtitle 2">
            <a:extLst>
              <a:ext uri="{FF2B5EF4-FFF2-40B4-BE49-F238E27FC236}">
                <a16:creationId xmlns:a16="http://schemas.microsoft.com/office/drawing/2014/main" id="{A343C924-A882-72B5-C32B-B0D15DD566FB}"/>
              </a:ext>
            </a:extLst>
          </p:cNvPr>
          <p:cNvSpPr txBox="1">
            <a:spLocks/>
          </p:cNvSpPr>
          <p:nvPr/>
        </p:nvSpPr>
        <p:spPr>
          <a:xfrm>
            <a:off x="1767840" y="3844653"/>
            <a:ext cx="3420979" cy="1024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u="sng" dirty="0">
                <a:latin typeface="PT Mono" panose="02060509020205020204" pitchFamily="49" charset="77"/>
              </a:rPr>
              <a:t>Date</a:t>
            </a:r>
          </a:p>
          <a:p>
            <a:pPr algn="l"/>
            <a:r>
              <a:rPr lang="en-US" dirty="0">
                <a:latin typeface="PT Mono" panose="02060509020205020204" pitchFamily="49" charset="77"/>
              </a:rPr>
              <a:t>April 13th, 2025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3FC3B617-E961-9326-8798-8F0D04B282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31300" y="307523"/>
            <a:ext cx="2036064" cy="793680"/>
          </a:xfrm>
        </p:spPr>
        <p:txBody>
          <a:bodyPr>
            <a:normAutofit/>
          </a:bodyPr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sz="4000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457473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E01C3-2546-1939-BC59-4B024A81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8F0A6-94A8-4BBE-F0A5-B91192D390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43650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CDF803-E1B1-833F-9EDB-BABC4CD86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6486DC9-38E9-3E2C-08B4-078373C093A2}"/>
              </a:ext>
            </a:extLst>
          </p:cNvPr>
          <p:cNvSpPr txBox="1"/>
          <p:nvPr/>
        </p:nvSpPr>
        <p:spPr>
          <a:xfrm>
            <a:off x="5152479" y="1073851"/>
            <a:ext cx="191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Preface</a:t>
            </a:r>
            <a:endParaRPr lang="en-PK" b="1" u="sng" dirty="0">
              <a:latin typeface="PT Mono" panose="02060509020205020204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D174B3-0821-1D68-7C20-A94FD1050525}"/>
              </a:ext>
            </a:extLst>
          </p:cNvPr>
          <p:cNvSpPr txBox="1"/>
          <p:nvPr/>
        </p:nvSpPr>
        <p:spPr>
          <a:xfrm>
            <a:off x="864296" y="2141951"/>
            <a:ext cx="5397631" cy="3696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PK" sz="2000" dirty="0">
                <a:latin typeface="PT Mono" panose="02060509020205020204" pitchFamily="49" charset="77"/>
              </a:rPr>
              <a:t>- Problem Statement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PK" sz="2000" dirty="0">
                <a:latin typeface="PT Mono" panose="02060509020205020204" pitchFamily="49" charset="77"/>
              </a:rPr>
              <a:t>Literature Review/Previous Works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PK" sz="2000" dirty="0">
                <a:latin typeface="PT Mono" panose="02060509020205020204" pitchFamily="49" charset="77"/>
              </a:rPr>
              <a:t>Methodology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PK" sz="2000" dirty="0">
                <a:latin typeface="PT Mono" panose="02060509020205020204" pitchFamily="49" charset="77"/>
              </a:rPr>
              <a:t>Results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PK" sz="2000" dirty="0">
                <a:latin typeface="PT Mono" panose="02060509020205020204" pitchFamily="49" charset="77"/>
              </a:rPr>
              <a:t>Conclusion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PK" sz="2000" dirty="0">
                <a:latin typeface="PT Mono" panose="02060509020205020204" pitchFamily="49" charset="77"/>
              </a:rPr>
              <a:t>Future Works</a:t>
            </a:r>
          </a:p>
        </p:txBody>
      </p:sp>
    </p:spTree>
    <p:extLst>
      <p:ext uri="{BB962C8B-B14F-4D97-AF65-F5344CB8AC3E}">
        <p14:creationId xmlns:p14="http://schemas.microsoft.com/office/powerpoint/2010/main" val="1060683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B65B9-AA49-8A0C-3771-21FB29F41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68EAE-A357-1C75-F9B8-4ADDC1727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43650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BF213A9B-C984-85C7-6723-B32351861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9ADCB6-6475-F194-DB1B-FDF4AF54607C}"/>
              </a:ext>
            </a:extLst>
          </p:cNvPr>
          <p:cNvSpPr txBox="1"/>
          <p:nvPr/>
        </p:nvSpPr>
        <p:spPr>
          <a:xfrm>
            <a:off x="2831899" y="3013501"/>
            <a:ext cx="6528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K" sz="4800" b="1" u="sng" dirty="0">
                <a:latin typeface="PT Mono" panose="02060509020205020204" pitchFamily="49" charset="77"/>
              </a:rPr>
              <a:t>Problem Statement</a:t>
            </a:r>
            <a:endParaRPr lang="en-PK" sz="3200" b="1" u="sng" dirty="0">
              <a:latin typeface="PT Mono" panose="02060509020205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88456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88352-312C-3D9F-EEA2-6EC19F04D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ECF4E-4BDC-BA73-D6F1-713650099C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D67FB66-6FB0-5619-7372-405A7ADF5C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AF220A0-3987-CA80-EF1A-0ECA1706B7B8}"/>
              </a:ext>
            </a:extLst>
          </p:cNvPr>
          <p:cNvSpPr txBox="1"/>
          <p:nvPr/>
        </p:nvSpPr>
        <p:spPr>
          <a:xfrm>
            <a:off x="3905336" y="1093339"/>
            <a:ext cx="4381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Problem Statement</a:t>
            </a:r>
            <a:endParaRPr lang="en-PK" b="1" u="sng" dirty="0">
              <a:latin typeface="PT Mono" panose="02060509020205020204" pitchFamily="49" charset="7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5F2BAE-4A0C-C9E1-2DE9-23083A4851D1}"/>
              </a:ext>
            </a:extLst>
          </p:cNvPr>
          <p:cNvSpPr txBox="1"/>
          <p:nvPr/>
        </p:nvSpPr>
        <p:spPr>
          <a:xfrm>
            <a:off x="864296" y="2141951"/>
            <a:ext cx="9417963" cy="369633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>
              <a:lnSpc>
                <a:spcPct val="200000"/>
              </a:lnSpc>
            </a:pPr>
            <a:r>
              <a:rPr lang="en-GB" sz="2000" dirty="0">
                <a:latin typeface="PT Mono" panose="02060509020205020204" pitchFamily="49" charset="77"/>
              </a:rPr>
              <a:t>- Urdu as a Low-Resource Language</a:t>
            </a:r>
          </a:p>
          <a:p>
            <a:pPr algn="just">
              <a:lnSpc>
                <a:spcPct val="200000"/>
              </a:lnSpc>
            </a:pPr>
            <a:r>
              <a:rPr lang="en-GB" sz="2000" dirty="0">
                <a:latin typeface="PT Mono" panose="02060509020205020204" pitchFamily="49" charset="77"/>
              </a:rPr>
              <a:t>- Lack of Standardized NLP Tools</a:t>
            </a:r>
          </a:p>
          <a:p>
            <a:pPr algn="just">
              <a:lnSpc>
                <a:spcPct val="200000"/>
              </a:lnSpc>
            </a:pPr>
            <a:r>
              <a:rPr lang="en-GB" sz="2000" dirty="0">
                <a:latin typeface="PT Mono" panose="02060509020205020204" pitchFamily="49" charset="77"/>
              </a:rPr>
              <a:t>- Overlapping Vocabulary in Hope vs. Neutral/Negative Speech</a:t>
            </a:r>
          </a:p>
          <a:p>
            <a:pPr algn="just">
              <a:lnSpc>
                <a:spcPct val="200000"/>
              </a:lnSpc>
            </a:pPr>
            <a:r>
              <a:rPr lang="en-GB" sz="2000" dirty="0">
                <a:latin typeface="PT Mono" panose="02060509020205020204" pitchFamily="49" charset="77"/>
              </a:rPr>
              <a:t>- Linguistic Irony and Sarcasm Complexity</a:t>
            </a:r>
          </a:p>
          <a:p>
            <a:pPr algn="just">
              <a:lnSpc>
                <a:spcPct val="200000"/>
              </a:lnSpc>
            </a:pPr>
            <a:r>
              <a:rPr lang="en-GB" sz="2000" dirty="0">
                <a:latin typeface="PT Mono" panose="02060509020205020204" pitchFamily="49" charset="77"/>
              </a:rPr>
              <a:t>- Code-Mixing and Dialectal Variations in Social Media Texts</a:t>
            </a:r>
          </a:p>
          <a:p>
            <a:pPr algn="just">
              <a:lnSpc>
                <a:spcPct val="200000"/>
              </a:lnSpc>
            </a:pPr>
            <a:endParaRPr lang="en-PK" sz="2000" dirty="0">
              <a:latin typeface="PT Mono" panose="02060509020205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849272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E76B8-3992-ACB4-EFBF-47D3A3D8E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98792-92E0-378E-91CB-F253072040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8903BDD-B48F-3C64-32D7-B1826F3F4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A61D563-359E-8F38-76A9-20E022131AB9}"/>
              </a:ext>
            </a:extLst>
          </p:cNvPr>
          <p:cNvSpPr txBox="1"/>
          <p:nvPr/>
        </p:nvSpPr>
        <p:spPr>
          <a:xfrm>
            <a:off x="3905336" y="1093339"/>
            <a:ext cx="43813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Overlapping Words</a:t>
            </a:r>
            <a:endParaRPr lang="en-PK" b="1" u="sng" dirty="0">
              <a:latin typeface="PT Mono" panose="02060509020205020204" pitchFamily="49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AA71CA-041C-FC6F-7AD4-5D5D1A879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8946" y="1854200"/>
            <a:ext cx="5618404" cy="45382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0BF02E-2D3E-B4F2-5A95-2449E4A81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55" y="1911707"/>
            <a:ext cx="5130800" cy="448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684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8CDCD-ECBB-BDE4-881E-D708C78D7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6BBC2-0E4F-4F7D-778A-DB8A5C8C3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DDC84AF-8DED-4F2B-5F77-7E541AB56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DFC205-7AAF-6BCA-F329-033B33692D0F}"/>
              </a:ext>
            </a:extLst>
          </p:cNvPr>
          <p:cNvSpPr txBox="1"/>
          <p:nvPr/>
        </p:nvSpPr>
        <p:spPr>
          <a:xfrm>
            <a:off x="3164749" y="1093339"/>
            <a:ext cx="5862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Multiway Classification</a:t>
            </a:r>
            <a:endParaRPr lang="en-PK" b="1" u="sng" dirty="0">
              <a:latin typeface="PT Mono" panose="02060509020205020204" pitchFamily="49" charset="77"/>
            </a:endParaRPr>
          </a:p>
        </p:txBody>
      </p:sp>
      <p:pic>
        <p:nvPicPr>
          <p:cNvPr id="5" name="Picture 4" descr="A diagram of a pie chart&#10;&#10;AI-generated content may be incorrect.">
            <a:extLst>
              <a:ext uri="{FF2B5EF4-FFF2-40B4-BE49-F238E27FC236}">
                <a16:creationId xmlns:a16="http://schemas.microsoft.com/office/drawing/2014/main" id="{D4ECFCA7-928E-F025-6080-D2E9F11BC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779714"/>
            <a:ext cx="7772400" cy="458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100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61E98-F438-C9D4-313C-7AAE1A16C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2C19B-B391-7B8B-3B1C-19F423285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D956389A-048F-1D0A-CB9E-9920D18C7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6A597DD-71E0-3E59-D32B-3DA779DDE412}"/>
              </a:ext>
            </a:extLst>
          </p:cNvPr>
          <p:cNvSpPr txBox="1"/>
          <p:nvPr/>
        </p:nvSpPr>
        <p:spPr>
          <a:xfrm>
            <a:off x="4152197" y="1093339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Context Problem</a:t>
            </a:r>
            <a:endParaRPr lang="en-PK" b="1" u="sng" dirty="0">
              <a:latin typeface="PT Mono" panose="02060509020205020204" pitchFamily="49" charset="7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02EEAB-52C7-BD51-4BEF-54291F3A55CF}"/>
              </a:ext>
            </a:extLst>
          </p:cNvPr>
          <p:cNvSpPr txBox="1"/>
          <p:nvPr/>
        </p:nvSpPr>
        <p:spPr>
          <a:xfrm>
            <a:off x="734290" y="2119745"/>
            <a:ext cx="1072341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GB" b="1" dirty="0">
                <a:latin typeface="PT Mono" panose="02060509020205020204" pitchFamily="49" charset="77"/>
              </a:rPr>
              <a:t>- Pakistan 152/0 (19 ov):</a:t>
            </a:r>
            <a:r>
              <a:rPr lang="en-GB" dirty="0">
                <a:latin typeface="PT Mono" panose="02060509020205020204" pitchFamily="49" charset="77"/>
              </a:rPr>
              <a:t> Pakistan is about to lose. → </a:t>
            </a:r>
            <a:r>
              <a:rPr lang="en-GB" b="1" u="sng" dirty="0">
                <a:latin typeface="PT Mono" panose="02060509020205020204" pitchFamily="49" charset="77"/>
              </a:rPr>
              <a:t>Unrealistic Hope </a:t>
            </a:r>
            <a:r>
              <a:rPr lang="en-GB" dirty="0">
                <a:latin typeface="PT Mono" panose="02060509020205020204" pitchFamily="49" charset="77"/>
              </a:rPr>
              <a:t>(clearly sarcastic, detached from reality)</a:t>
            </a:r>
          </a:p>
          <a:p>
            <a:pPr>
              <a:buNone/>
            </a:pPr>
            <a:endParaRPr lang="en-GB" dirty="0">
              <a:latin typeface="PT Mono" panose="02060509020205020204" pitchFamily="49" charset="77"/>
            </a:endParaRPr>
          </a:p>
          <a:p>
            <a:pPr>
              <a:buNone/>
            </a:pPr>
            <a:endParaRPr lang="en-GB" dirty="0">
              <a:latin typeface="PT Mono" panose="02060509020205020204" pitchFamily="49" charset="77"/>
            </a:endParaRPr>
          </a:p>
          <a:p>
            <a:pPr>
              <a:buNone/>
            </a:pPr>
            <a:r>
              <a:rPr lang="en-GB" b="1" dirty="0">
                <a:latin typeface="PT Mono" panose="02060509020205020204" pitchFamily="49" charset="77"/>
              </a:rPr>
              <a:t>- Pakistan 113/7 (19 ov):</a:t>
            </a:r>
            <a:r>
              <a:rPr lang="en-GB" dirty="0">
                <a:latin typeface="PT Mono" panose="02060509020205020204" pitchFamily="49" charset="77"/>
              </a:rPr>
              <a:t> Pakistan is about to lose. → </a:t>
            </a:r>
            <a:r>
              <a:rPr lang="en-GB" b="1" u="sng" dirty="0">
                <a:latin typeface="PT Mono" panose="02060509020205020204" pitchFamily="49" charset="77"/>
              </a:rPr>
              <a:t>Realistic Hope </a:t>
            </a:r>
            <a:r>
              <a:rPr lang="en-GB" dirty="0">
                <a:latin typeface="PT Mono" panose="02060509020205020204" pitchFamily="49" charset="77"/>
              </a:rPr>
              <a:t>(acknowledging a tough spot but not giving up yet)</a:t>
            </a:r>
          </a:p>
          <a:p>
            <a:pPr>
              <a:buNone/>
            </a:pPr>
            <a:endParaRPr lang="en-GB" dirty="0">
              <a:latin typeface="PT Mono" panose="02060509020205020204" pitchFamily="49" charset="77"/>
            </a:endParaRPr>
          </a:p>
          <a:p>
            <a:pPr>
              <a:buNone/>
            </a:pPr>
            <a:endParaRPr lang="en-GB" dirty="0">
              <a:latin typeface="PT Mono" panose="02060509020205020204" pitchFamily="49" charset="77"/>
            </a:endParaRPr>
          </a:p>
          <a:p>
            <a:pPr>
              <a:buNone/>
            </a:pPr>
            <a:r>
              <a:rPr lang="en-GB" b="1" dirty="0">
                <a:latin typeface="PT Mono" panose="02060509020205020204" pitchFamily="49" charset="77"/>
              </a:rPr>
              <a:t>- Pakistan 45/6 (8 ov):</a:t>
            </a:r>
            <a:r>
              <a:rPr lang="en-GB" dirty="0">
                <a:latin typeface="PT Mono" panose="02060509020205020204" pitchFamily="49" charset="77"/>
              </a:rPr>
              <a:t> Pakistan is about to lose. → </a:t>
            </a:r>
            <a:r>
              <a:rPr lang="en-GB" b="1" u="sng" dirty="0">
                <a:latin typeface="PT Mono" panose="02060509020205020204" pitchFamily="49" charset="77"/>
              </a:rPr>
              <a:t>Not Hope</a:t>
            </a:r>
            <a:r>
              <a:rPr lang="en-GB" b="1" dirty="0">
                <a:latin typeface="PT Mono" panose="02060509020205020204" pitchFamily="49" charset="77"/>
              </a:rPr>
              <a:t> </a:t>
            </a:r>
            <a:r>
              <a:rPr lang="en-GB" dirty="0">
                <a:latin typeface="PT Mono" panose="02060509020205020204" pitchFamily="49" charset="77"/>
              </a:rPr>
              <a:t>(pessimistic, defeatist)</a:t>
            </a:r>
          </a:p>
          <a:p>
            <a:pPr>
              <a:buNone/>
            </a:pPr>
            <a:endParaRPr lang="en-GB" dirty="0">
              <a:latin typeface="PT Mono" panose="02060509020205020204" pitchFamily="49" charset="77"/>
            </a:endParaRPr>
          </a:p>
          <a:p>
            <a:pPr>
              <a:buNone/>
            </a:pPr>
            <a:endParaRPr lang="en-GB" dirty="0">
              <a:latin typeface="PT Mono" panose="02060509020205020204" pitchFamily="49" charset="77"/>
            </a:endParaRPr>
          </a:p>
          <a:p>
            <a:r>
              <a:rPr lang="en-GB" b="1" dirty="0">
                <a:latin typeface="PT Mono" panose="02060509020205020204" pitchFamily="49" charset="77"/>
              </a:rPr>
              <a:t>- Pakistan 199/2 (18 ov):</a:t>
            </a:r>
            <a:r>
              <a:rPr lang="en-GB" dirty="0">
                <a:latin typeface="PT Mono" panose="02060509020205020204" pitchFamily="49" charset="77"/>
              </a:rPr>
              <a:t> Pakistan is about to lose. → </a:t>
            </a:r>
            <a:r>
              <a:rPr lang="en-GB" b="1" u="sng" dirty="0">
                <a:latin typeface="PT Mono" panose="02060509020205020204" pitchFamily="49" charset="77"/>
              </a:rPr>
              <a:t>Generalized Hope</a:t>
            </a:r>
            <a:r>
              <a:rPr lang="en-GB" dirty="0">
                <a:latin typeface="PT Mono" panose="02060509020205020204" pitchFamily="49" charset="77"/>
              </a:rPr>
              <a:t> (used jokingly, but overall mood is still confident)</a:t>
            </a:r>
          </a:p>
        </p:txBody>
      </p:sp>
    </p:spTree>
    <p:extLst>
      <p:ext uri="{BB962C8B-B14F-4D97-AF65-F5344CB8AC3E}">
        <p14:creationId xmlns:p14="http://schemas.microsoft.com/office/powerpoint/2010/main" val="3358603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C9D73-3CAB-AF7B-7F11-4BE37331C8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AA1AF-2D7F-4933-E146-3E2131BBA5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6773CFC-0A52-2FA0-BCBD-4C8613777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864F26-9F1B-8DB2-6628-B9B22F0DE1AA}"/>
              </a:ext>
            </a:extLst>
          </p:cNvPr>
          <p:cNvSpPr txBox="1"/>
          <p:nvPr/>
        </p:nvSpPr>
        <p:spPr>
          <a:xfrm>
            <a:off x="3422832" y="2729999"/>
            <a:ext cx="53463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4800" b="1" u="sng" dirty="0">
                <a:latin typeface="PT Mono" panose="02060509020205020204" pitchFamily="49" charset="77"/>
              </a:rPr>
              <a:t>Previous Works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40967D-2D10-8796-8497-84F93026C053}"/>
              </a:ext>
            </a:extLst>
          </p:cNvPr>
          <p:cNvSpPr txBox="1"/>
          <p:nvPr/>
        </p:nvSpPr>
        <p:spPr>
          <a:xfrm>
            <a:off x="1562267" y="4128001"/>
            <a:ext cx="9682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 dirty="0">
                <a:latin typeface="PT Mono" panose="02060509020205020204" pitchFamily="49" charset="77"/>
              </a:rPr>
              <a:t>Limited Research in Urdu:</a:t>
            </a:r>
            <a:r>
              <a:rPr lang="en-GB" dirty="0">
                <a:latin typeface="PT Mono" panose="02060509020205020204" pitchFamily="49" charset="77"/>
              </a:rPr>
              <a:t> There is a notable lack of studies focusing on hope speech detection in Urdu.</a:t>
            </a:r>
            <a:endParaRPr lang="en-PK" dirty="0">
              <a:latin typeface="PT Mono" panose="02060509020205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476349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EB33C-C963-76CF-37B0-41C32F0AA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F3E4-0281-51CB-B33C-8661CEF6DA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3FE7F5C-0EDF-AA49-5102-948D2C6CA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A8A301-7F00-D0F4-741F-B73497B14EC1}"/>
              </a:ext>
            </a:extLst>
          </p:cNvPr>
          <p:cNvSpPr txBox="1"/>
          <p:nvPr/>
        </p:nvSpPr>
        <p:spPr>
          <a:xfrm>
            <a:off x="4275629" y="1175302"/>
            <a:ext cx="36407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Previous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E4B72C-BD62-FF6A-9CB7-9C2F7FCF5926}"/>
              </a:ext>
            </a:extLst>
          </p:cNvPr>
          <p:cNvSpPr txBox="1"/>
          <p:nvPr/>
        </p:nvSpPr>
        <p:spPr>
          <a:xfrm>
            <a:off x="548116" y="2042137"/>
            <a:ext cx="1109576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b="1" dirty="0">
                <a:latin typeface="PT Mono" panose="02060509020205020204" pitchFamily="49" charset="77"/>
              </a:rPr>
              <a:t>Dave et al. (2021):</a:t>
            </a:r>
            <a:r>
              <a:rPr lang="en-GB" dirty="0">
                <a:latin typeface="PT Mono" panose="02060509020205020204" pitchFamily="49" charset="77"/>
              </a:rPr>
              <a:t> Utilized </a:t>
            </a:r>
            <a:r>
              <a:rPr lang="en-GB" b="1" dirty="0">
                <a:latin typeface="PT Mono" panose="02060509020205020204" pitchFamily="49" charset="77"/>
              </a:rPr>
              <a:t>TF-IDF</a:t>
            </a:r>
            <a:r>
              <a:rPr lang="en-GB" dirty="0">
                <a:latin typeface="PT Mono" panose="02060509020205020204" pitchFamily="49" charset="77"/>
              </a:rPr>
              <a:t> character n-grams combined with MuRIL embeddings for code-mixed text classification. </a:t>
            </a:r>
          </a:p>
          <a:p>
            <a:endParaRPr lang="en-PK" dirty="0">
              <a:latin typeface="PT Mono" panose="02060509020205020204" pitchFamily="49" charset="77"/>
            </a:endParaRPr>
          </a:p>
          <a:p>
            <a:r>
              <a:rPr lang="en-GB" b="1" dirty="0">
                <a:latin typeface="PT Mono" panose="02060509020205020204" pitchFamily="49" charset="77"/>
              </a:rPr>
              <a:t>Hossain et al. (2021):</a:t>
            </a:r>
            <a:r>
              <a:rPr lang="en-GB" dirty="0">
                <a:latin typeface="PT Mono" panose="02060509020205020204" pitchFamily="49" charset="77"/>
              </a:rPr>
              <a:t> Employed a combination of machine learning and deep learning models, including SVM and </a:t>
            </a:r>
            <a:r>
              <a:rPr lang="en-GB" b="1" dirty="0">
                <a:latin typeface="PT Mono" panose="02060509020205020204" pitchFamily="49" charset="77"/>
              </a:rPr>
              <a:t>CNN-</a:t>
            </a:r>
            <a:r>
              <a:rPr lang="en-GB" b="1" dirty="0" err="1">
                <a:latin typeface="PT Mono" panose="02060509020205020204" pitchFamily="49" charset="77"/>
              </a:rPr>
              <a:t>BiLSTM</a:t>
            </a:r>
            <a:r>
              <a:rPr lang="en-GB" dirty="0">
                <a:latin typeface="PT Mono" panose="02060509020205020204" pitchFamily="49" charset="77"/>
              </a:rPr>
              <a:t>, for multilingual hope speech detection.</a:t>
            </a:r>
          </a:p>
          <a:p>
            <a:endParaRPr lang="en-PK" dirty="0">
              <a:latin typeface="PT Mono" panose="02060509020205020204" pitchFamily="49" charset="77"/>
            </a:endParaRPr>
          </a:p>
          <a:p>
            <a:r>
              <a:rPr lang="en-GB" b="1" dirty="0">
                <a:latin typeface="PT Mono" panose="02060509020205020204" pitchFamily="49" charset="77"/>
              </a:rPr>
              <a:t>Mahajan et al. (2021):</a:t>
            </a:r>
            <a:r>
              <a:rPr lang="en-GB" dirty="0">
                <a:latin typeface="PT Mono" panose="02060509020205020204" pitchFamily="49" charset="77"/>
              </a:rPr>
              <a:t> Fine-tuned </a:t>
            </a:r>
            <a:r>
              <a:rPr lang="en-GB" b="1" dirty="0" err="1">
                <a:latin typeface="PT Mono" panose="02060509020205020204" pitchFamily="49" charset="77"/>
              </a:rPr>
              <a:t>RoBERTa</a:t>
            </a:r>
            <a:r>
              <a:rPr lang="en-GB" dirty="0">
                <a:latin typeface="PT Mono" panose="02060509020205020204" pitchFamily="49" charset="77"/>
              </a:rPr>
              <a:t> and </a:t>
            </a:r>
            <a:r>
              <a:rPr lang="en-GB" b="1" dirty="0">
                <a:latin typeface="PT Mono" panose="02060509020205020204" pitchFamily="49" charset="77"/>
              </a:rPr>
              <a:t>XLM-</a:t>
            </a:r>
            <a:r>
              <a:rPr lang="en-GB" b="1" dirty="0" err="1">
                <a:latin typeface="PT Mono" panose="02060509020205020204" pitchFamily="49" charset="77"/>
              </a:rPr>
              <a:t>RoBERTa</a:t>
            </a:r>
            <a:r>
              <a:rPr lang="en-GB" dirty="0">
                <a:latin typeface="PT Mono" panose="02060509020205020204" pitchFamily="49" charset="77"/>
              </a:rPr>
              <a:t> models for hope speech detection in English, Tamil, and Malayalam.</a:t>
            </a:r>
          </a:p>
          <a:p>
            <a:endParaRPr lang="en-PK" dirty="0">
              <a:latin typeface="PT Mono" panose="02060509020205020204" pitchFamily="49" charset="77"/>
            </a:endParaRPr>
          </a:p>
          <a:p>
            <a:r>
              <a:rPr lang="en-GB" b="1" dirty="0">
                <a:latin typeface="PT Mono" panose="02060509020205020204" pitchFamily="49" charset="77"/>
              </a:rPr>
              <a:t>Khanna et al. (2022):</a:t>
            </a:r>
            <a:r>
              <a:rPr lang="en-GB" dirty="0">
                <a:latin typeface="PT Mono" panose="02060509020205020204" pitchFamily="49" charset="77"/>
              </a:rPr>
              <a:t> Implemented a contextualized </a:t>
            </a:r>
            <a:r>
              <a:rPr lang="en-GB" b="1" dirty="0">
                <a:latin typeface="PT Mono" panose="02060509020205020204" pitchFamily="49" charset="77"/>
              </a:rPr>
              <a:t>BERT</a:t>
            </a:r>
            <a:r>
              <a:rPr lang="en-GB" dirty="0">
                <a:latin typeface="PT Mono" panose="02060509020205020204" pitchFamily="49" charset="77"/>
              </a:rPr>
              <a:t> model with an attention mechanism for social media text classification. </a:t>
            </a:r>
          </a:p>
          <a:p>
            <a:endParaRPr lang="en-PK" dirty="0">
              <a:latin typeface="PT Mono" panose="02060509020205020204" pitchFamily="49" charset="77"/>
            </a:endParaRPr>
          </a:p>
          <a:p>
            <a:r>
              <a:rPr lang="en-GB" b="1" dirty="0">
                <a:latin typeface="PT Mono" panose="02060509020205020204" pitchFamily="49" charset="77"/>
              </a:rPr>
              <a:t>Butt et al. (2024, primary paper)</a:t>
            </a:r>
            <a:r>
              <a:rPr lang="en-GB" dirty="0">
                <a:latin typeface="PT Mono" panose="02060509020205020204" pitchFamily="49" charset="77"/>
              </a:rPr>
              <a:t>: Applied transformers for Urdu text classification, particularly focusing on detecting hope speech.</a:t>
            </a:r>
          </a:p>
          <a:p>
            <a:endParaRPr lang="en-PK" dirty="0">
              <a:latin typeface="PT Mono" panose="02060509020205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42043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92E11-AFFC-BC98-235B-0403EE80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569FD-BAC6-BB2A-C4D1-CE9FCDF71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8FDC6062-327F-FDA5-5EF5-E9BEB4BD0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7223D88-14E6-4A4B-0A50-01CACEA5B722}"/>
              </a:ext>
            </a:extLst>
          </p:cNvPr>
          <p:cNvSpPr txBox="1"/>
          <p:nvPr/>
        </p:nvSpPr>
        <p:spPr>
          <a:xfrm>
            <a:off x="3975868" y="2729999"/>
            <a:ext cx="424026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4800" b="1" u="sng" dirty="0">
                <a:latin typeface="PT Mono" panose="02060509020205020204" pitchFamily="49" charset="77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432191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C40C9-B0E7-FCEE-1FA4-5706DE553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133DE-D81A-E2D2-BB22-09BBFD6D33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F80C0CAD-8302-9B73-8149-241361BAC6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402BCB-1DE6-8AB5-3529-B4191F2DBE6D}"/>
              </a:ext>
            </a:extLst>
          </p:cNvPr>
          <p:cNvSpPr txBox="1"/>
          <p:nvPr/>
        </p:nvSpPr>
        <p:spPr>
          <a:xfrm>
            <a:off x="4645921" y="1175302"/>
            <a:ext cx="2900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93BBF7-2165-C641-3E6B-737E4C361A01}"/>
              </a:ext>
            </a:extLst>
          </p:cNvPr>
          <p:cNvSpPr txBox="1"/>
          <p:nvPr/>
        </p:nvSpPr>
        <p:spPr>
          <a:xfrm>
            <a:off x="548116" y="2042137"/>
            <a:ext cx="11095765" cy="2227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>
                <a:latin typeface="PT Mono" panose="02060509020205020204" pitchFamily="49" charset="77"/>
              </a:rPr>
              <a:t>URLs Remove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>
                <a:latin typeface="PT Mono" panose="02060509020205020204" pitchFamily="49" charset="77"/>
              </a:rPr>
              <a:t>##USER## Remove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>
                <a:latin typeface="PT Mono" panose="02060509020205020204" pitchFamily="49" charset="77"/>
              </a:rPr>
              <a:t>Not Addition Text Cleaning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>
                <a:latin typeface="PT Mono" panose="02060509020205020204" pitchFamily="49" charset="77"/>
              </a:rPr>
              <a:t>No Stop Words Removal</a:t>
            </a:r>
          </a:p>
        </p:txBody>
      </p:sp>
    </p:spTree>
    <p:extLst>
      <p:ext uri="{BB962C8B-B14F-4D97-AF65-F5344CB8AC3E}">
        <p14:creationId xmlns:p14="http://schemas.microsoft.com/office/powerpoint/2010/main" val="19330822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B92F4-E099-DFD3-455D-B37B4D962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3AAB4-2888-605E-6911-B7A7172D6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F4FA930-E972-C666-EF95-47D2C11E97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26EAF7-E287-EF3D-11E7-1B27DDE55076}"/>
              </a:ext>
            </a:extLst>
          </p:cNvPr>
          <p:cNvSpPr txBox="1"/>
          <p:nvPr/>
        </p:nvSpPr>
        <p:spPr>
          <a:xfrm>
            <a:off x="4645921" y="1175302"/>
            <a:ext cx="29001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0CC37A-97CD-27AD-C930-02CE402FA420}"/>
              </a:ext>
            </a:extLst>
          </p:cNvPr>
          <p:cNvSpPr txBox="1"/>
          <p:nvPr/>
        </p:nvSpPr>
        <p:spPr>
          <a:xfrm>
            <a:off x="548116" y="2042137"/>
            <a:ext cx="110957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PK" dirty="0">
                <a:latin typeface="PT Mono" panose="02060509020205020204" pitchFamily="49" charset="77"/>
              </a:rPr>
              <a:t>Finetuned RoBERTa for English Classification</a:t>
            </a:r>
          </a:p>
          <a:p>
            <a:pPr marL="285750" indent="-285750">
              <a:buFontTx/>
              <a:buChar char="-"/>
            </a:pPr>
            <a:r>
              <a:rPr lang="en-PK" dirty="0">
                <a:latin typeface="PT Mono" panose="02060509020205020204" pitchFamily="49" charset="77"/>
              </a:rPr>
              <a:t>Finetuned UrduRoBERTa from UrduHack for Urdu Classification</a:t>
            </a:r>
          </a:p>
          <a:p>
            <a:pPr marL="285750" indent="-285750">
              <a:buFontTx/>
              <a:buChar char="-"/>
            </a:pPr>
            <a:r>
              <a:rPr lang="en-PK" dirty="0">
                <a:latin typeface="PT Mono" panose="02060509020205020204" pitchFamily="49" charset="77"/>
              </a:rPr>
              <a:t>Finetuned EuroBERT for Spanish – German Classification</a:t>
            </a:r>
          </a:p>
          <a:p>
            <a:pPr marL="285750" indent="-285750">
              <a:buFontTx/>
              <a:buChar char="-"/>
            </a:pPr>
            <a:endParaRPr lang="en-PK" dirty="0">
              <a:latin typeface="PT Mono" panose="02060509020205020204" pitchFamily="49" charset="77"/>
            </a:endParaRPr>
          </a:p>
          <a:p>
            <a:pPr marL="285750" indent="-285750">
              <a:buFontTx/>
              <a:buChar char="-"/>
            </a:pPr>
            <a:r>
              <a:rPr lang="en-GB" dirty="0">
                <a:latin typeface="PT Mono" panose="02060509020205020204" pitchFamily="49" charset="77"/>
              </a:rPr>
              <a:t>T</a:t>
            </a:r>
            <a:r>
              <a:rPr lang="en-PK" dirty="0">
                <a:latin typeface="PT Mono" panose="02060509020205020204" pitchFamily="49" charset="77"/>
              </a:rPr>
              <a:t>wo-way classification for Hope (Generalized, Realistic, Unrealistic) and Not Hope</a:t>
            </a:r>
          </a:p>
          <a:p>
            <a:pPr marL="285750" indent="-285750">
              <a:buFontTx/>
              <a:buChar char="-"/>
            </a:pPr>
            <a:endParaRPr lang="en-PK" dirty="0">
              <a:latin typeface="PT Mono" panose="02060509020205020204" pitchFamily="49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568434-0BE2-D529-350D-C6CD5429F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7" y="4073462"/>
            <a:ext cx="7772400" cy="2476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7096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B22BD-C542-D102-6855-838155735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60ED-C983-5559-295F-F9EC5CE1D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2015B5F-D3A2-5325-C870-87FC7B2243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5C2D433-83D6-EDA8-5505-876177B58717}"/>
              </a:ext>
            </a:extLst>
          </p:cNvPr>
          <p:cNvSpPr txBox="1"/>
          <p:nvPr/>
        </p:nvSpPr>
        <p:spPr>
          <a:xfrm>
            <a:off x="4713249" y="2729999"/>
            <a:ext cx="27655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4800" b="1" u="sng" dirty="0">
                <a:latin typeface="PT Mono" panose="02060509020205020204" pitchFamily="49" charset="77"/>
              </a:rPr>
              <a:t>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BBCAC6-6DC3-49E7-EC5F-A46BBCFD6328}"/>
              </a:ext>
            </a:extLst>
          </p:cNvPr>
          <p:cNvSpPr txBox="1"/>
          <p:nvPr/>
        </p:nvSpPr>
        <p:spPr>
          <a:xfrm>
            <a:off x="1562267" y="3670937"/>
            <a:ext cx="96820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dirty="0">
                <a:latin typeface="PT Mono" panose="02060509020205020204" pitchFamily="49" charset="77"/>
              </a:rPr>
              <a:t>F1 Score will be the base metric, that is used as judgement in competition as well</a:t>
            </a:r>
            <a:endParaRPr lang="en-PK" dirty="0">
              <a:latin typeface="PT Mono" panose="02060509020205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8831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2434A-82AF-010C-2422-E5BD63759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CC2BB-EC51-1F6A-03DE-10C3DB3768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09EA7AAE-7E04-B05B-AA85-9C48A3E6F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1F6C2E0-8382-3DA2-B7BF-F373BC70E49B}"/>
              </a:ext>
            </a:extLst>
          </p:cNvPr>
          <p:cNvSpPr txBox="1"/>
          <p:nvPr/>
        </p:nvSpPr>
        <p:spPr>
          <a:xfrm>
            <a:off x="5139646" y="1175302"/>
            <a:ext cx="191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Results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B496F50-9641-F3A2-43DD-DDC721B4E4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442787"/>
              </p:ext>
            </p:extLst>
          </p:nvPr>
        </p:nvGraphicFramePr>
        <p:xfrm>
          <a:off x="225037" y="2280066"/>
          <a:ext cx="11769635" cy="36886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353927">
                  <a:extLst>
                    <a:ext uri="{9D8B030D-6E8A-4147-A177-3AD203B41FA5}">
                      <a16:colId xmlns:a16="http://schemas.microsoft.com/office/drawing/2014/main" val="966034156"/>
                    </a:ext>
                  </a:extLst>
                </a:gridCol>
                <a:gridCol w="2353927">
                  <a:extLst>
                    <a:ext uri="{9D8B030D-6E8A-4147-A177-3AD203B41FA5}">
                      <a16:colId xmlns:a16="http://schemas.microsoft.com/office/drawing/2014/main" val="2388568522"/>
                    </a:ext>
                  </a:extLst>
                </a:gridCol>
                <a:gridCol w="2353927">
                  <a:extLst>
                    <a:ext uri="{9D8B030D-6E8A-4147-A177-3AD203B41FA5}">
                      <a16:colId xmlns:a16="http://schemas.microsoft.com/office/drawing/2014/main" val="479335865"/>
                    </a:ext>
                  </a:extLst>
                </a:gridCol>
                <a:gridCol w="2353927">
                  <a:extLst>
                    <a:ext uri="{9D8B030D-6E8A-4147-A177-3AD203B41FA5}">
                      <a16:colId xmlns:a16="http://schemas.microsoft.com/office/drawing/2014/main" val="1838701263"/>
                    </a:ext>
                  </a:extLst>
                </a:gridCol>
                <a:gridCol w="2353927">
                  <a:extLst>
                    <a:ext uri="{9D8B030D-6E8A-4147-A177-3AD203B41FA5}">
                      <a16:colId xmlns:a16="http://schemas.microsoft.com/office/drawing/2014/main" val="2494310676"/>
                    </a:ext>
                  </a:extLst>
                </a:gridCol>
              </a:tblGrid>
              <a:tr h="654607"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Author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Language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Classification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F1-Score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Our F1-Score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766062395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endParaRPr lang="en-PK" b="0" i="0" dirty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Urdu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Binary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endParaRPr lang="en-PK" b="0" i="0" dirty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94.5%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355269683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Urdu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Multiway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65.3%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3373198622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English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Binary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86.3%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724927237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English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Multiway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71.2%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1327473343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Spanish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Binary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84.5%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725482475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Spanish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Multiway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68.6%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3801475135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German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Binary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87.2%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732406851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PT Mono" panose="02060509020205020204" pitchFamily="49" charset="77"/>
                        </a:rPr>
                        <a:t>G</a:t>
                      </a:r>
                      <a:r>
                        <a:rPr lang="en-PK" b="0" i="0" dirty="0">
                          <a:latin typeface="PT Mono" panose="02060509020205020204" pitchFamily="49" charset="77"/>
                        </a:rPr>
                        <a:t>erman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Multiway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endParaRPr lang="en-PK" b="0" i="0">
                        <a:latin typeface="PT Mono" panose="02060509020205020204" pitchFamily="49" charset="77"/>
                      </a:endParaRP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70.13%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43582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01604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198B1-5EB3-AB9C-FA15-05BE0101F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FC254-188F-96D5-E405-DE31BFA45C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9601EF26-0223-B065-7B05-03D17A616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FA6E078-927C-B14D-5683-EC8C95BC46BC}"/>
              </a:ext>
            </a:extLst>
          </p:cNvPr>
          <p:cNvSpPr txBox="1"/>
          <p:nvPr/>
        </p:nvSpPr>
        <p:spPr>
          <a:xfrm>
            <a:off x="5139646" y="1175302"/>
            <a:ext cx="19127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Results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022FD3A-D6E7-B87B-05A9-43FFB20012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961584"/>
              </p:ext>
            </p:extLst>
          </p:nvPr>
        </p:nvGraphicFramePr>
        <p:xfrm>
          <a:off x="1115686" y="2291942"/>
          <a:ext cx="10070868" cy="368865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356956">
                  <a:extLst>
                    <a:ext uri="{9D8B030D-6E8A-4147-A177-3AD203B41FA5}">
                      <a16:colId xmlns:a16="http://schemas.microsoft.com/office/drawing/2014/main" val="2388568522"/>
                    </a:ext>
                  </a:extLst>
                </a:gridCol>
                <a:gridCol w="3356956">
                  <a:extLst>
                    <a:ext uri="{9D8B030D-6E8A-4147-A177-3AD203B41FA5}">
                      <a16:colId xmlns:a16="http://schemas.microsoft.com/office/drawing/2014/main" val="479335865"/>
                    </a:ext>
                  </a:extLst>
                </a:gridCol>
                <a:gridCol w="3356956">
                  <a:extLst>
                    <a:ext uri="{9D8B030D-6E8A-4147-A177-3AD203B41FA5}">
                      <a16:colId xmlns:a16="http://schemas.microsoft.com/office/drawing/2014/main" val="2494310676"/>
                    </a:ext>
                  </a:extLst>
                </a:gridCol>
              </a:tblGrid>
              <a:tr h="654607"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Language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Classification</a:t>
                      </a:r>
                    </a:p>
                  </a:txBody>
                  <a:tcPr marL="100584" marR="1005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Position of Leaderboard</a:t>
                      </a:r>
                    </a:p>
                  </a:txBody>
                  <a:tcPr marL="100584" marR="100584" anchor="ctr"/>
                </a:tc>
                <a:extLst>
                  <a:ext uri="{0D108BD9-81ED-4DB2-BD59-A6C34878D82A}">
                    <a16:rowId xmlns:a16="http://schemas.microsoft.com/office/drawing/2014/main" val="766062395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Urdu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Binary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2nd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355269683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Urdu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Multiway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1st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3373198622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English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Binary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2nd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724927237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English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Multiway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2nd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1327473343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Spanish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Binary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1st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725482475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Spanish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Multiway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3rd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3801475135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German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Binary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2nd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732406851"/>
                  </a:ext>
                </a:extLst>
              </a:tr>
              <a:tr h="379256">
                <a:tc>
                  <a:txBody>
                    <a:bodyPr/>
                    <a:lstStyle/>
                    <a:p>
                      <a:pPr algn="ctr"/>
                      <a:r>
                        <a:rPr lang="en-GB" b="0" i="0" dirty="0">
                          <a:latin typeface="PT Mono" panose="02060509020205020204" pitchFamily="49" charset="77"/>
                        </a:rPr>
                        <a:t>G</a:t>
                      </a:r>
                      <a:r>
                        <a:rPr lang="en-PK" b="0" i="0" dirty="0">
                          <a:latin typeface="PT Mono" panose="02060509020205020204" pitchFamily="49" charset="77"/>
                        </a:rPr>
                        <a:t>erman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0" i="0" dirty="0">
                          <a:latin typeface="PT Mono" panose="02060509020205020204" pitchFamily="49" charset="77"/>
                        </a:rPr>
                        <a:t>Multiway</a:t>
                      </a:r>
                    </a:p>
                  </a:txBody>
                  <a:tcPr marL="100584" marR="10058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K" b="1" i="0" dirty="0">
                          <a:latin typeface="PT Mono" panose="02060509020205020204" pitchFamily="49" charset="77"/>
                        </a:rPr>
                        <a:t>1st</a:t>
                      </a:r>
                    </a:p>
                  </a:txBody>
                  <a:tcPr marL="100584" marR="100584"/>
                </a:tc>
                <a:extLst>
                  <a:ext uri="{0D108BD9-81ED-4DB2-BD59-A6C34878D82A}">
                    <a16:rowId xmlns:a16="http://schemas.microsoft.com/office/drawing/2014/main" val="2435825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2894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BCEDAD-1032-0AFA-51A9-D4A815E46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661D7-594F-286A-8CEA-35F559D2A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2C31B374-4097-1E11-F07D-2BC914F79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8650992-E8B5-E819-AB03-5F034AB761D7}"/>
              </a:ext>
            </a:extLst>
          </p:cNvPr>
          <p:cNvSpPr txBox="1"/>
          <p:nvPr/>
        </p:nvSpPr>
        <p:spPr>
          <a:xfrm>
            <a:off x="3943923" y="3013501"/>
            <a:ext cx="460895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4800" b="1" u="sng" dirty="0">
                <a:latin typeface="PT Mono" panose="02060509020205020204" pitchFamily="49" charset="77"/>
              </a:rPr>
              <a:t>Future Works</a:t>
            </a:r>
          </a:p>
        </p:txBody>
      </p:sp>
    </p:spTree>
    <p:extLst>
      <p:ext uri="{BB962C8B-B14F-4D97-AF65-F5344CB8AC3E}">
        <p14:creationId xmlns:p14="http://schemas.microsoft.com/office/powerpoint/2010/main" val="30460519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248A1-298D-3E70-8A1C-B27F94CF4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53DA2-55C9-7F7F-374D-151282E00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5128" y="209585"/>
            <a:ext cx="1498456" cy="883754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sz="4000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BA74A59-CAB0-4FB2-C903-0336B9452A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6169BD-274A-AA5F-010F-8FB3BEEB6A5D}"/>
              </a:ext>
            </a:extLst>
          </p:cNvPr>
          <p:cNvSpPr txBox="1"/>
          <p:nvPr/>
        </p:nvSpPr>
        <p:spPr>
          <a:xfrm>
            <a:off x="4645921" y="1175302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K" sz="3200" b="1" u="sng" dirty="0">
                <a:latin typeface="PT Mono" panose="02060509020205020204" pitchFamily="49" charset="77"/>
              </a:rPr>
              <a:t>Future Works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E3D5BA-3EC1-B7CD-97AC-2980C261E59D}"/>
              </a:ext>
            </a:extLst>
          </p:cNvPr>
          <p:cNvSpPr txBox="1"/>
          <p:nvPr/>
        </p:nvSpPr>
        <p:spPr>
          <a:xfrm>
            <a:off x="548117" y="2315041"/>
            <a:ext cx="11095765" cy="2227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GB" dirty="0">
                <a:latin typeface="PT Mono" panose="02060509020205020204" pitchFamily="49" charset="77"/>
              </a:rPr>
              <a:t>- Finer emotion labels (e.g., sarcasm, optimism)</a:t>
            </a:r>
          </a:p>
          <a:p>
            <a:pPr>
              <a:lnSpc>
                <a:spcPct val="200000"/>
              </a:lnSpc>
            </a:pPr>
            <a:r>
              <a:rPr lang="en-GB" dirty="0">
                <a:latin typeface="PT Mono" panose="02060509020205020204" pitchFamily="49" charset="77"/>
              </a:rPr>
              <a:t>- Support for Roman Urdu &amp; code-mixed text</a:t>
            </a:r>
          </a:p>
          <a:p>
            <a:pPr>
              <a:lnSpc>
                <a:spcPct val="200000"/>
              </a:lnSpc>
            </a:pPr>
            <a:r>
              <a:rPr lang="en-GB" dirty="0">
                <a:latin typeface="PT Mono" panose="02060509020205020204" pitchFamily="49" charset="77"/>
              </a:rPr>
              <a:t>- Context-aware modelling (e.g., score-based)</a:t>
            </a:r>
          </a:p>
          <a:p>
            <a:pPr>
              <a:lnSpc>
                <a:spcPct val="200000"/>
              </a:lnSpc>
            </a:pPr>
            <a:r>
              <a:rPr lang="en-GB" dirty="0">
                <a:latin typeface="PT Mono" panose="02060509020205020204" pitchFamily="49" charset="77"/>
              </a:rPr>
              <a:t>- Cross-lingual extension (Pashto, Balochi)</a:t>
            </a:r>
          </a:p>
        </p:txBody>
      </p:sp>
    </p:spTree>
    <p:extLst>
      <p:ext uri="{BB962C8B-B14F-4D97-AF65-F5344CB8AC3E}">
        <p14:creationId xmlns:p14="http://schemas.microsoft.com/office/powerpoint/2010/main" val="1202393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46011-ECFE-A032-05BF-1B6FBAEA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CF808-119D-916C-556A-DB209536BF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52520"/>
            <a:ext cx="9144000" cy="2387600"/>
          </a:xfrm>
        </p:spPr>
        <p:txBody>
          <a:bodyPr/>
          <a:lstStyle/>
          <a:p>
            <a:pPr algn="ct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ur-PK" b="1" dirty="0">
                <a:latin typeface="Noto Nastaliq Urdu" panose="020B0502040504020204" pitchFamily="34" charset="-78"/>
                <a:cs typeface="Noto Nastaliq Urdu" panose="020B0502040504020204" pitchFamily="34" charset="-78"/>
              </a:rPr>
              <a:t>غالب</a:t>
            </a:r>
            <a:endParaRPr lang="en-PK" b="1" dirty="0">
              <a:latin typeface="Noto Nastaliq Urdu" panose="020B0502040504020204" pitchFamily="34" charset="-78"/>
              <a:cs typeface="Noto Nastaliq Urdu" panose="020B0502040504020204" pitchFamily="34" charset="-78"/>
            </a:endParaRPr>
          </a:p>
        </p:txBody>
      </p:sp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C94B441F-D5A1-E7A1-1AC0-2EA5B849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16" y="291548"/>
            <a:ext cx="3436821" cy="8837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4B4D09-629E-F48D-B09F-2723E002E595}"/>
              </a:ext>
            </a:extLst>
          </p:cNvPr>
          <p:cNvSpPr txBox="1"/>
          <p:nvPr/>
        </p:nvSpPr>
        <p:spPr>
          <a:xfrm>
            <a:off x="3125165" y="3784922"/>
            <a:ext cx="5836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PT Mono" panose="02060509020205020204" pitchFamily="49" charset="77"/>
              </a:rPr>
              <a:t>https://</a:t>
            </a:r>
            <a:r>
              <a:rPr lang="en-GB" dirty="0" err="1">
                <a:latin typeface="PT Mono" panose="02060509020205020204" pitchFamily="49" charset="77"/>
              </a:rPr>
              <a:t>github.com</a:t>
            </a:r>
            <a:r>
              <a:rPr lang="en-GB" dirty="0">
                <a:latin typeface="PT Mono" panose="02060509020205020204" pitchFamily="49" charset="77"/>
              </a:rPr>
              <a:t>/</a:t>
            </a:r>
            <a:r>
              <a:rPr lang="en-GB" dirty="0" err="1">
                <a:latin typeface="PT Mono" panose="02060509020205020204" pitchFamily="49" charset="77"/>
              </a:rPr>
              <a:t>ahmedembeddedxx</a:t>
            </a:r>
            <a:r>
              <a:rPr lang="en-GB" dirty="0">
                <a:latin typeface="PT Mono" panose="02060509020205020204" pitchFamily="49" charset="77"/>
              </a:rPr>
              <a:t>/</a:t>
            </a:r>
            <a:r>
              <a:rPr lang="en-GB" dirty="0" err="1">
                <a:latin typeface="PT Mono" panose="02060509020205020204" pitchFamily="49" charset="77"/>
              </a:rPr>
              <a:t>GHaLIB</a:t>
            </a:r>
            <a:endParaRPr lang="en-PK" dirty="0">
              <a:latin typeface="PT Mono" panose="02060509020205020204" pitchFamily="49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3423945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560</Words>
  <Application>Microsoft Macintosh PowerPoint</Application>
  <PresentationFormat>Widescreen</PresentationFormat>
  <Paragraphs>146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Aptos</vt:lpstr>
      <vt:lpstr>Aptos Display</vt:lpstr>
      <vt:lpstr>Arial</vt:lpstr>
      <vt:lpstr>Noto Nastaliq Urdu</vt:lpstr>
      <vt:lpstr>PT Mono</vt:lpstr>
      <vt:lpstr>Office Theme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  <vt:lpstr>غالب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l227503Ahmad Abdullah</dc:creator>
  <cp:lastModifiedBy>l227503Ahmad Abdullah</cp:lastModifiedBy>
  <cp:revision>24</cp:revision>
  <dcterms:created xsi:type="dcterms:W3CDTF">2025-04-13T11:01:35Z</dcterms:created>
  <dcterms:modified xsi:type="dcterms:W3CDTF">2025-04-13T13:35:25Z</dcterms:modified>
</cp:coreProperties>
</file>